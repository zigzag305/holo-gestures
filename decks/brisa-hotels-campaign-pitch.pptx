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313A"/>
                </a:solidFill>
                <a:latin typeface="Arial"/>
              </a:rPr>
              <a:t>Guests by country, 2026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2026 guests</c:v>
                </c:pt>
              </c:strCache>
            </c:strRef>
          </c:tx>
          <c:spPr>
            <a:solidFill>
              <a:srgbClr val="1F4E5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Spain</c:v>
                  </c:pt>
                  <c:pt idx="1">
                    <c:v>Portugal</c:v>
                  </c:pt>
                  <c:pt idx="2">
                    <c:v>UK</c:v>
                  </c:pt>
                  <c:pt idx="3">
                    <c:v>Germany</c:v>
                  </c:pt>
                  <c:pt idx="4">
                    <c:v>France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22</c:v>
                </c:pt>
                <c:pt idx="2">
                  <c:v>18</c:v>
                </c:pt>
                <c:pt idx="3">
                  <c:v>11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231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1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€k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5F"/>
              </a:solidFill>
              <a:effectLst/>
            </c:spPr>
          </c:dPt>
          <c:dPt>
            <c:idx val="1"/>
            <c:bubble3D val="0"/>
            <c:spPr>
              <a:solidFill>
                <a:srgbClr val="E07A5F"/>
              </a:solidFill>
              <a:effectLst/>
            </c:spPr>
          </c:dPt>
          <c:dPt>
            <c:idx val="2"/>
            <c:bubble3D val="0"/>
            <c:spPr>
              <a:solidFill>
                <a:srgbClr val="F2B544"/>
              </a:solidFill>
              <a:effectLst/>
            </c:spPr>
          </c:dPt>
          <c:dPt>
            <c:idx val="3"/>
            <c:bubble3D val="0"/>
            <c:spPr>
              <a:solidFill>
                <a:srgbClr val="8AB0A6"/>
              </a:solidFill>
              <a:effectLst/>
            </c:spPr>
          </c:dPt>
          <c:dPt>
            <c:idx val="4"/>
            <c:bubble3D val="0"/>
            <c:spPr>
              <a:solidFill>
                <a:srgbClr val="B9A48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Video (CTV + YouTube)</c:v>
                </c:pt>
                <c:pt idx="1">
                  <c:v>Social (Meta, TikTok)</c:v>
                </c:pt>
                <c:pt idx="2">
                  <c:v>Search + metasearch</c:v>
                </c:pt>
                <c:pt idx="3">
                  <c:v>Partnerships</c:v>
                </c:pt>
                <c:pt idx="4">
                  <c:v>Production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640</c:v>
                </c:pt>
                <c:pt idx="1">
                  <c:v>470</c:v>
                </c:pt>
                <c:pt idx="2">
                  <c:v>380</c:v>
                </c:pt>
                <c:pt idx="3">
                  <c:v>190</c:v>
                </c:pt>
                <c:pt idx="4">
                  <c:v>120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image. The line 'wake up where the sea does' is the whole campaign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ISA_LIGHT">
    <p:bg>
      <p:bgPr>
        <a:solidFill>
          <a:srgbClr val="F3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4E5F"/>
          </a:solidFill>
          <a:ln/>
        </p:spPr>
      </p:sp>
      <p:pic>
        <p:nvPicPr>
          <p:cNvPr id="3" name="Image 0" descr="/tmp/claude-0/-home-claude/2ec2494b-1cae-574d-88c0-831f04728925/scratchpad/testdecks/img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4837176"/>
            <a:ext cx="8229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280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Brisa Hotels · Campaign proposal · Confidential draft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589520" y="48371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589520" y="48371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E2A35">
              <a:alpha val="75000"/>
            </a:srgbClr>
          </a:solidFill>
          <a:ln/>
        </p:spPr>
      </p:sp>
      <p:pic>
        <p:nvPicPr>
          <p:cNvPr id="3" name="Image 0" descr="/tmp/claude-0/-home-claude/2ec2494b-1cae-574d-88c0-831f04728925/scratchpad/testdecks/img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3716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6C77C"/>
                </a:solidFill>
              </a:rPr>
              <a:t>WAKE UP WHERE THE SEA DOES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4023360" cy="146304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Brisa Hotels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 brand campaign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Proposal for the marketing committee · November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ec2494b-1cae-574d-88c0-831f04728925/scratchpad/testdecks/img/poo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291840" cy="4800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9040" y="4114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2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brief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749040" y="12344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13A"/>
                </a:solidFill>
              </a:rPr>
              <a:t>Grow direct bookings from 31% to 45% of rooms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13A"/>
                </a:solidFill>
              </a:rPr>
              <a:t>Reach couples 30–45 in Spain, Portugal and the UK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13A"/>
                </a:solidFill>
              </a:rPr>
              <a:t>Reposition from 'beach hotel' to 'slow coastal stays'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13A"/>
                </a:solidFill>
              </a:rPr>
              <a:t>Budget: €1.8M across 12 months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49040" y="37490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</a:rPr>
              <a:t>Success = 45% direct share by Q4 2027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589520" y="48371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moments, one feeling</a:t>
            </a:r>
            <a:endParaRPr lang="en-US" sz="2600" dirty="0"/>
          </a:p>
        </p:txBody>
      </p:sp>
      <p:pic>
        <p:nvPicPr>
          <p:cNvPr id="3" name="Image 0" descr="/tmp/claude-0/-home-claude/2ec2494b-1cae-574d-88c0-831f04728925/scratchpad/testdecks/img/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26060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566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Slow mornings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931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3"/>
                </a:solidFill>
              </a:rPr>
              <a:t>Rooms that open to the light</a:t>
            </a:r>
            <a:endParaRPr lang="en-US" sz="1200" dirty="0"/>
          </a:p>
        </p:txBody>
      </p:sp>
      <p:pic>
        <p:nvPicPr>
          <p:cNvPr id="6" name="Image 1" descr="/tmp/claude-0/-home-claude/2ec2494b-1cae-574d-88c0-831f04728925/scratchpad/testdecks/img/breakfas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1051560"/>
            <a:ext cx="2606040" cy="2377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46120" y="3566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Local tables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246120" y="3931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3"/>
                </a:solidFill>
              </a:rPr>
              <a:t>Breakfast from 20 km around</a:t>
            </a:r>
            <a:endParaRPr lang="en-US" sz="1200" dirty="0"/>
          </a:p>
        </p:txBody>
      </p:sp>
      <p:pic>
        <p:nvPicPr>
          <p:cNvPr id="9" name="Image 2" descr="/tmp/claude-0/-home-claude/2ec2494b-1cae-574d-88c0-831f04728925/scratchpad/testdecks/img/poo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35040" y="1051560"/>
            <a:ext cx="2606040" cy="2377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35040" y="3566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Quiet water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035040" y="3931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3"/>
                </a:solidFill>
              </a:rPr>
              <a:t>Adults-only pools until 11:00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589520" y="48371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are talking to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120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97280"/>
            <a:ext cx="2971800" cy="338328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2D7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035040" y="1371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035040" y="2240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13A"/>
                </a:solidFill>
              </a:rPr>
              <a:t>of guests come from three markets we can reach with one Iberian + UK media plan.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589520" y="48371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6C77C"/>
                </a:solidFill>
              </a:rPr>
              <a:t>Campaign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sea keeps its own hours.”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7FB7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77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C77C"/>
                </a:solidFill>
              </a:rPr>
              <a:t>Film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60s and 15s spots shot at sunrise in three hotels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219456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7FB7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377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C77C"/>
                </a:solidFill>
              </a:rPr>
              <a:t>Social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8346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A daily 'tide clock' post for each property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219456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7FB7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377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C77C"/>
                </a:solidFill>
              </a:rPr>
              <a:t>Booking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3640" y="28346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Late check-out included when booking direct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€1.8M goes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3931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€k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</a:rPr>
                        <a:t>Video (CTV + YouTube)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</a:rPr>
                        <a:t>640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</a:rPr>
                        <a:t>Social (Meta, TikTok)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</a:rPr>
                        <a:t>470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</a:rPr>
                        <a:t>Search + metasearch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</a:rPr>
                        <a:t>380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</a:rPr>
                        <a:t>Partnerships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</a:rPr>
                        <a:t>190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</a:rPr>
                        <a:t>Production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313A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313A"/>
                          </a:solidFill>
                        </a:rPr>
                        <a:t>1,800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589520" y="48371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 flight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7863840" cy="0"/>
          </a:xfrm>
          <a:prstGeom prst="line">
            <a:avLst/>
          </a:prstGeom>
          <a:noFill/>
          <a:ln w="25400">
            <a:solidFill>
              <a:srgbClr val="1F4E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883664"/>
            <a:ext cx="256032" cy="256032"/>
          </a:xfrm>
          <a:prstGeom prst="ellipse">
            <a:avLst/>
          </a:prstGeom>
          <a:solidFill>
            <a:srgbClr val="1F4E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13A"/>
                </a:solidFill>
              </a:rPr>
              <a:t>Jan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-9144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3"/>
                </a:solidFill>
              </a:rPr>
              <a:t>Teaser film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78024" y="1883664"/>
            <a:ext cx="256032" cy="256032"/>
          </a:xfrm>
          <a:prstGeom prst="ellipse">
            <a:avLst/>
          </a:prstGeom>
          <a:solidFill>
            <a:srgbClr val="E07A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13A"/>
                </a:solidFill>
              </a:rPr>
              <a:t>Mar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7452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3"/>
                </a:solidFill>
              </a:rPr>
              <a:t>Spring launch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1883664"/>
            <a:ext cx="256032" cy="256032"/>
          </a:xfrm>
          <a:prstGeom prst="ellipse">
            <a:avLst/>
          </a:prstGeom>
          <a:solidFill>
            <a:srgbClr val="1F4E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13A"/>
                </a:solidFill>
              </a:rPr>
              <a:t>Jun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3"/>
                </a:solidFill>
              </a:rPr>
              <a:t>Summer push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9944" y="1883664"/>
            <a:ext cx="256032" cy="256032"/>
          </a:xfrm>
          <a:prstGeom prst="ellipse">
            <a:avLst/>
          </a:prstGeom>
          <a:solidFill>
            <a:srgbClr val="1F4E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13A"/>
                </a:solidFill>
              </a:rPr>
              <a:t>Sep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3"/>
                </a:solidFill>
              </a:rPr>
              <a:t>Late-season offers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75904" y="1883664"/>
            <a:ext cx="256032" cy="256032"/>
          </a:xfrm>
          <a:prstGeom prst="ellipse">
            <a:avLst/>
          </a:prstGeom>
          <a:solidFill>
            <a:srgbClr val="1F4E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13A"/>
                </a:solidFill>
              </a:rPr>
              <a:t>Nov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3"/>
                </a:solidFill>
              </a:rPr>
              <a:t>Results + 2028 plan</a:t>
            </a:r>
            <a:endParaRPr lang="en-US" sz="1100" dirty="0"/>
          </a:p>
        </p:txBody>
      </p:sp>
      <p:pic>
        <p:nvPicPr>
          <p:cNvPr id="19" name="Image 0" descr="/tmp/claude-0/-home-claude/2ec2494b-1cae-574d-88c0-831f04728925/scratchpad/testdecks/img/coa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108960"/>
            <a:ext cx="8229600" cy="1463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589520" y="48371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step: approve the idea and the €1.8M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3"/>
                </a:solidFill>
              </a:rPr>
              <a:t>We start production on 7 December so the teaser lands in January.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Brisa Hotels — 2027 brand campaign</dc:title>
  <dc:subject>PptxGenJS Presentation</dc:subject>
  <dc:creator>PptxGenJS</dc:creator>
  <cp:lastModifiedBy>PptxGenJS</cp:lastModifiedBy>
  <cp:revision>1</cp:revision>
  <dcterms:created xsi:type="dcterms:W3CDTF">2026-10-31T01:04:54Z</dcterms:created>
  <dcterms:modified xsi:type="dcterms:W3CDTF">2026-10-31T01:04:54Z</dcterms:modified>
</cp:coreProperties>
</file>