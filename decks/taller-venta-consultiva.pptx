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Bienvenida. Pedir a cada persona que diga su última venta perdida y por qué cree que la perdió.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cuadro tiene más texto del que cabe: PowerPoint lo reduce al 70%. Leerlo en voz alta en parejas.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ventas/taller-2027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4A1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u="none">
                <a:solidFill>
                  <a:srgbClr val="F6B8A8"/>
                </a:solidFill>
                <a:latin typeface="Calibri"/>
              </a:rPr>
              <a:t>TALLER · 2 HORAS</a:t>
            </a:r>
          </a:p>
          <a:p>
            <a:r>
              <a:rPr sz="4000" b="1" i="0" u="none">
                <a:solidFill>
                  <a:srgbClr val="FFFFFF"/>
                </a:solidFill>
                <a:latin typeface="Georgia"/>
              </a:rPr>
              <a:t>Venta consultiva:</a:t>
            </a:r>
            <a:br/>
            <a:r>
              <a:rPr sz="4000" b="0" i="1" u="none">
                <a:solidFill>
                  <a:srgbClr val="FFFFFF"/>
                </a:solidFill>
                <a:latin typeface="Georgia"/>
              </a:rPr>
              <a:t>preguntar antes de proponer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u="none">
                <a:solidFill>
                  <a:srgbClr val="E8DDEA"/>
                </a:solidFill>
                <a:latin typeface="Calibri"/>
              </a:rPr>
              <a:t>Equipo comercial · Madrid y Buenos Aires · </a:t>
            </a:r>
            <a:r>
              <a:rPr sz="1400" b="1" i="0" u="none">
                <a:solidFill>
                  <a:srgbClr val="FFFFFF"/>
                </a:solidFill>
                <a:latin typeface="Calibri"/>
              </a:rPr>
              <a:t>marzo de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u="none">
                <a:solidFill>
                  <a:srgbClr val="4A1D4F"/>
                </a:solidFill>
                <a:latin typeface="Georgia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AutoNum type="alphaLcParenR"/>
            </a:pPr>
            <a:r>
              <a:rPr sz="2200" b="1" i="0" u="none">
                <a:solidFill>
                  <a:srgbClr val="261E2A"/>
                </a:solidFill>
                <a:latin typeface="Calibri"/>
              </a:rPr>
              <a:t>¿Por qué perdemos ventas? </a:t>
            </a:r>
            <a:r>
              <a:rPr sz="1800" b="0" i="1" u="none">
                <a:solidFill>
                  <a:srgbClr val="6E6372"/>
                </a:solidFill>
                <a:latin typeface="Calibri"/>
              </a:rPr>
              <a:t>(15 min)</a:t>
            </a:r>
          </a:p>
          <a:p>
            <a:pPr marL="365760" indent="-365760">
              <a:spcAft>
                <a:spcPts val="1000"/>
              </a:spcAft>
              <a:buAutoNum type="alphaLcParenR"/>
            </a:pPr>
            <a:r>
              <a:rPr sz="2200" b="1" i="0" u="none">
                <a:solidFill>
                  <a:srgbClr val="261E2A"/>
                </a:solidFill>
                <a:latin typeface="Calibri"/>
              </a:rPr>
              <a:t>Las cinco preguntas </a:t>
            </a:r>
            <a:r>
              <a:rPr sz="1800" b="0" i="1" u="none">
                <a:solidFill>
                  <a:srgbClr val="6E6372"/>
                </a:solidFill>
                <a:latin typeface="Calibri"/>
              </a:rPr>
              <a:t>(30 min)</a:t>
            </a:r>
          </a:p>
          <a:p>
            <a:pPr marL="365760" indent="-365760">
              <a:spcAft>
                <a:spcPts val="1000"/>
              </a:spcAft>
              <a:buAutoNum type="alphaLcParenR"/>
            </a:pPr>
            <a:r>
              <a:rPr sz="2200" b="1" i="0" u="none">
                <a:solidFill>
                  <a:srgbClr val="261E2A"/>
                </a:solidFill>
                <a:latin typeface="Calibri"/>
              </a:rPr>
              <a:t>Práctica en parejas </a:t>
            </a:r>
            <a:r>
              <a:rPr sz="1800" b="0" i="1" u="none">
                <a:solidFill>
                  <a:srgbClr val="6E6372"/>
                </a:solidFill>
                <a:latin typeface="Calibri"/>
              </a:rPr>
              <a:t>(45 min)</a:t>
            </a:r>
          </a:p>
          <a:p>
            <a:pPr marL="365760" indent="-365760">
              <a:spcAft>
                <a:spcPts val="1000"/>
              </a:spcAft>
              <a:buAutoNum type="alphaLcParenR"/>
            </a:pPr>
            <a:r>
              <a:rPr sz="2200" b="1" i="0" u="none">
                <a:solidFill>
                  <a:srgbClr val="261E2A"/>
                </a:solidFill>
                <a:latin typeface="Calibri"/>
              </a:rPr>
              <a:t>Errores típicos y cierre </a:t>
            </a:r>
            <a:r>
              <a:rPr sz="1800" b="0" i="1" u="none">
                <a:solidFill>
                  <a:srgbClr val="6E6372"/>
                </a:solidFill>
                <a:latin typeface="Calibri"/>
              </a:rPr>
              <a:t>(30 min)</a:t>
            </a:r>
          </a:p>
          <a:p>
            <a:pPr>
              <a:spcBef>
                <a:spcPts val="1600"/>
              </a:spcBef>
            </a:pPr>
            <a:r>
              <a:rPr sz="1600" b="0" i="0" u="none">
                <a:solidFill>
                  <a:srgbClr val="6E6372"/>
                </a:solidFill>
                <a:latin typeface="Calibri"/>
              </a:rPr>
              <a:t>Material del taller: </a:t>
            </a:r>
            <a:r>
              <a:rPr sz="1600" b="0" i="0" u="sng">
                <a:solidFill>
                  <a:srgbClr val="1F5FBF"/>
                </a:solidFill>
                <a:latin typeface="Calibri"/>
                <a:hlinkClick r:id="rId2"/>
              </a:rPr>
              <a:t>intranet/ventas/taller-2027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u="none">
                <a:solidFill>
                  <a:srgbClr val="4A1D4F"/>
                </a:solidFill>
                <a:latin typeface="Georgia"/>
              </a:rPr>
              <a:t>Las cinco 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3566160"/>
          </a:xfrm>
          <a:prstGeom prst="rect">
            <a:avLst/>
          </a:prstGeom>
          <a:noFill/>
        </p:spPr>
        <p:txBody>
          <a:bodyPr wrap="square" numCol="2" spcCol="457200">
            <a:spAutoFit/>
          </a:bodyPr>
          <a:lstStyle/>
          <a:p>
            <a:pPr marL="274320" indent="-274320">
              <a:spcAft>
                <a:spcPts val="200"/>
              </a:spcAft>
              <a:buClr>
                <a:srgbClr val="2F8F6B"/>
              </a:buClr>
              <a:buChar char="✓"/>
            </a:pPr>
            <a:r>
              <a:rPr sz="1900" b="1" i="0" u="none">
                <a:solidFill>
                  <a:srgbClr val="261E2A"/>
                </a:solidFill>
                <a:latin typeface="Calibri"/>
              </a:rPr>
              <a:t>¿Qué pasa si no hacen nada?</a:t>
            </a:r>
          </a:p>
          <a:p>
            <a:pPr marL="274320">
              <a:spcAft>
                <a:spcPts val="1200"/>
              </a:spcAft>
            </a:pPr>
            <a:r>
              <a:rPr sz="1500" b="0" i="0" u="none">
                <a:solidFill>
                  <a:srgbClr val="6E6372"/>
                </a:solidFill>
                <a:latin typeface="Calibri"/>
              </a:rPr>
              <a:t>Mide el coste de quedarse igual.</a:t>
            </a:r>
          </a:p>
          <a:p>
            <a:pPr marL="274320" indent="-274320">
              <a:spcAft>
                <a:spcPts val="200"/>
              </a:spcAft>
              <a:buClr>
                <a:srgbClr val="2F8F6B"/>
              </a:buClr>
              <a:buChar char="✓"/>
            </a:pPr>
            <a:r>
              <a:rPr sz="1900" b="1" i="0" u="none">
                <a:solidFill>
                  <a:srgbClr val="261E2A"/>
                </a:solidFill>
                <a:latin typeface="Calibri"/>
              </a:rPr>
              <a:t>¿Quién más decide?</a:t>
            </a:r>
          </a:p>
          <a:p>
            <a:pPr marL="274320">
              <a:spcAft>
                <a:spcPts val="1200"/>
              </a:spcAft>
            </a:pPr>
            <a:r>
              <a:rPr sz="1500" b="0" i="0" u="none">
                <a:solidFill>
                  <a:srgbClr val="6E6372"/>
                </a:solidFill>
                <a:latin typeface="Calibri"/>
              </a:rPr>
              <a:t>Nombra a todos antes de la propuesta.</a:t>
            </a:r>
          </a:p>
          <a:p>
            <a:pPr marL="274320" indent="-274320">
              <a:spcAft>
                <a:spcPts val="200"/>
              </a:spcAft>
              <a:buClr>
                <a:srgbClr val="2F8F6B"/>
              </a:buClr>
              <a:buChar char="✓"/>
            </a:pPr>
            <a:r>
              <a:rPr sz="1900" b="1" i="0" u="none">
                <a:solidFill>
                  <a:srgbClr val="261E2A"/>
                </a:solidFill>
                <a:latin typeface="Calibri"/>
              </a:rPr>
              <a:t>¿Qué probaron antes?</a:t>
            </a:r>
          </a:p>
          <a:p>
            <a:pPr marL="274320">
              <a:spcAft>
                <a:spcPts val="1200"/>
              </a:spcAft>
            </a:pPr>
            <a:r>
              <a:rPr sz="1500" b="0" i="0" u="none">
                <a:solidFill>
                  <a:srgbClr val="6E6372"/>
                </a:solidFill>
                <a:latin typeface="Calibri"/>
              </a:rPr>
              <a:t>Evita repetir lo que ya falló.</a:t>
            </a:r>
          </a:p>
          <a:p>
            <a:pPr marL="274320" indent="-274320">
              <a:spcAft>
                <a:spcPts val="200"/>
              </a:spcAft>
              <a:buClr>
                <a:srgbClr val="2F8F6B"/>
              </a:buClr>
              <a:buChar char="✓"/>
            </a:pPr>
            <a:r>
              <a:rPr sz="1900" b="1" i="0" u="none">
                <a:solidFill>
                  <a:srgbClr val="261E2A"/>
                </a:solidFill>
                <a:latin typeface="Calibri"/>
              </a:rPr>
              <a:t>¿Cómo sabrán que funcionó?</a:t>
            </a:r>
          </a:p>
          <a:p>
            <a:pPr marL="274320">
              <a:spcAft>
                <a:spcPts val="1200"/>
              </a:spcAft>
            </a:pPr>
            <a:r>
              <a:rPr sz="1500" b="0" i="0" u="none">
                <a:solidFill>
                  <a:srgbClr val="6E6372"/>
                </a:solidFill>
                <a:latin typeface="Calibri"/>
              </a:rPr>
              <a:t>Acuerda la métrica de éxito.</a:t>
            </a:r>
          </a:p>
          <a:p>
            <a:pPr marL="274320" indent="-274320">
              <a:spcAft>
                <a:spcPts val="200"/>
              </a:spcAft>
              <a:buClr>
                <a:srgbClr val="2F8F6B"/>
              </a:buClr>
              <a:buChar char="✓"/>
            </a:pPr>
            <a:r>
              <a:rPr sz="1900" b="1" i="0" u="none">
                <a:solidFill>
                  <a:srgbClr val="261E2A"/>
                </a:solidFill>
                <a:latin typeface="Calibri"/>
              </a:rPr>
              <a:t>¿Para cuándo lo necesitan?</a:t>
            </a:r>
          </a:p>
          <a:p>
            <a:pPr marL="274320">
              <a:spcAft>
                <a:spcPts val="1200"/>
              </a:spcAft>
            </a:pPr>
            <a:r>
              <a:rPr sz="1500" b="0" i="0" u="none">
                <a:solidFill>
                  <a:srgbClr val="6E6372"/>
                </a:solidFill>
                <a:latin typeface="Calibri"/>
              </a:rPr>
              <a:t>Una fecha real, no «cuanto antes».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u="none">
                <a:solidFill>
                  <a:srgbClr val="4A1D4F"/>
                </a:solidFill>
                <a:latin typeface="Georgia"/>
              </a:rPr>
              <a:t>Guion de la primera llamada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7863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 fontScale="85000" lnSpcReduction="10000"/>
          </a:bodyPr>
          <a:lstStyle/>
          <a:p>
            <a:pPr algn="l">
              <a:spcAft>
                <a:spcPts val="800"/>
              </a:spcAft>
            </a:pPr>
            <a:r>
              <a:rPr sz="2000" b="0" i="0" u="none">
                <a:solidFill>
                  <a:srgbClr val="261E2A"/>
                </a:solidFill>
                <a:latin typeface="Calibri"/>
              </a:rPr>
              <a:t>Hola, soy [nombre] de Ribera Foods. Le llamo porque vi que abrieron dos tiendas nuevas en Sevilla este año.</a:t>
            </a:r>
          </a:p>
          <a:p>
            <a:pPr algn="l">
              <a:spcAft>
                <a:spcPts val="800"/>
              </a:spcAft>
            </a:pPr>
            <a:r>
              <a:rPr sz="2000" b="0" i="0" u="none">
                <a:solidFill>
                  <a:srgbClr val="261E2A"/>
                </a:solidFill>
                <a:latin typeface="Calibri"/>
              </a:rPr>
              <a:t>Antes de contarle nada: ¿cómo están resolviendo hoy el suministro de aceite para esas tiendas?</a:t>
            </a:r>
          </a:p>
          <a:p>
            <a:pPr algn="l">
              <a:spcAft>
                <a:spcPts val="800"/>
              </a:spcAft>
            </a:pPr>
            <a:r>
              <a:rPr sz="2000" b="0" i="1" u="none">
                <a:solidFill>
                  <a:srgbClr val="6E6372"/>
                </a:solidFill>
                <a:latin typeface="Calibri"/>
              </a:rPr>
              <a:t>[Escuchar. No interrumpir. Tomar nota de las palabras exactas que usa.]</a:t>
            </a:r>
          </a:p>
          <a:p>
            <a:pPr algn="l">
              <a:spcAft>
                <a:spcPts val="800"/>
              </a:spcAft>
            </a:pPr>
            <a:r>
              <a:rPr sz="2000" b="0" i="0" u="none">
                <a:solidFill>
                  <a:srgbClr val="261E2A"/>
                </a:solidFill>
                <a:latin typeface="Calibri"/>
              </a:rPr>
              <a:t>Entiendo. ¿Y qué pasaría si en primavera el precio vuelve a subir como en 2026?</a:t>
            </a:r>
          </a:p>
          <a:p>
            <a:pPr algn="l">
              <a:spcAft>
                <a:spcPts val="800"/>
              </a:spcAft>
            </a:pPr>
            <a:r>
              <a:rPr sz="2000" b="0" i="0" u="none">
                <a:solidFill>
                  <a:srgbClr val="261E2A"/>
                </a:solidFill>
                <a:latin typeface="Calibri"/>
              </a:rPr>
              <a:t>¿Quién más en su equipo tendría que estar en una conversación sobre esto?</a:t>
            </a:r>
          </a:p>
          <a:p>
            <a:pPr algn="l">
              <a:spcAft>
                <a:spcPts val="800"/>
              </a:spcAft>
            </a:pPr>
            <a:r>
              <a:rPr sz="2000" b="0" i="0" u="none">
                <a:solidFill>
                  <a:srgbClr val="261E2A"/>
                </a:solidFill>
                <a:latin typeface="Calibri"/>
              </a:rPr>
              <a:t>Le propongo una reunión de 30 minutos el jueves con usted y esa persona. ¿Le viene bien a las 10:00?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5715000"/>
          </a:xfrm>
          <a:prstGeom prst="rect">
            <a:avLst/>
          </a:prstGeom>
          <a:solidFill>
            <a:srgbClr val="F06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vert="vert27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ERRORES TÍPICOS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548640"/>
            <a:ext cx="23774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EA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/>
          <a:lstStyle/>
          <a:p>
            <a:pPr algn="ctr"/>
            <a:r>
              <a:rPr sz="1700" b="1" i="0" u="none">
                <a:solidFill>
                  <a:srgbClr val="4A1D4F"/>
                </a:solidFill>
                <a:latin typeface="Calibri"/>
              </a:rPr>
              <a:t>Presentar en la primera llamada</a:t>
            </a:r>
          </a:p>
          <a:p>
            <a:r>
              <a:rPr sz="1400" b="0" i="0" u="none">
                <a:solidFill>
                  <a:srgbClr val="6E6372"/>
                </a:solidFill>
                <a:latin typeface="Calibri"/>
              </a:rPr>
              <a:t>Todavía no sabes qué les duele.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794760" y="548640"/>
            <a:ext cx="23774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EA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/>
          <a:lstStyle/>
          <a:p>
            <a:pPr algn="ctr"/>
            <a:r>
              <a:rPr sz="1700" b="1" i="0" u="none">
                <a:solidFill>
                  <a:srgbClr val="4A1D4F"/>
                </a:solidFill>
                <a:latin typeface="Calibri"/>
              </a:rPr>
              <a:t>Aceptar «lo pensamos»</a:t>
            </a:r>
          </a:p>
          <a:p>
            <a:r>
              <a:rPr sz="1400" b="0" i="0" u="none">
                <a:solidFill>
                  <a:srgbClr val="6E6372"/>
                </a:solidFill>
                <a:latin typeface="Calibri"/>
              </a:rPr>
              <a:t>Pregunta qué falta para decidir.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23774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EA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/>
          <a:lstStyle/>
          <a:p>
            <a:pPr algn="ctr"/>
            <a:r>
              <a:rPr sz="1700" b="1" i="0" u="none">
                <a:solidFill>
                  <a:srgbClr val="4A1D4F"/>
                </a:solidFill>
                <a:latin typeface="Calibri"/>
              </a:rPr>
              <a:t>Hablar del precio primero</a:t>
            </a:r>
          </a:p>
          <a:p>
            <a:r>
              <a:rPr sz="1400" b="0" i="0" u="none">
                <a:solidFill>
                  <a:srgbClr val="6E6372"/>
                </a:solidFill>
                <a:latin typeface="Calibri"/>
              </a:rPr>
              <a:t>El precio se discute contra un problema medido.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88720" y="3291840"/>
          <a:ext cx="7498079" cy="1828800"/>
        </p:xfrm>
        <a:graphic>
          <a:graphicData uri="http://schemas.openxmlformats.org/drawingml/2006/table">
            <a:tbl>
              <a:tblPr firstRow="0" bandRow="0"/>
              <a:tblGrid>
                <a:gridCol w="2499359"/>
                <a:gridCol w="2499359"/>
                <a:gridCol w="2499361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E2A"/>
                          </a:solidFill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E2A"/>
                          </a:solidFill>
                        </a:rPr>
                        <a:t>Frecuencia (encuesta, n = 48)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E2A"/>
                          </a:solidFill>
                        </a:rPr>
                        <a:t>Impacto en cierre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E2A"/>
                          </a:solidFill>
                        </a:rPr>
                        <a:t>Presentar demasiado pronto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E2A"/>
                          </a:solidFill>
                        </a:rPr>
                        <a:t>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E2A"/>
                          </a:solidFill>
                        </a:rPr>
                        <a:t>−18 pts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E2A"/>
                          </a:solidFill>
                        </a:rPr>
                        <a:t>Aceptar «lo pensamos»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E2A"/>
                          </a:solidFill>
                        </a:rPr>
                        <a:t>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E2A"/>
                          </a:solidFill>
                        </a:rPr>
                        <a:t>−11 pts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E2A"/>
                          </a:solidFill>
                        </a:rPr>
                        <a:t>Precio primero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E2A"/>
                          </a:solidFill>
                        </a:rP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E2A"/>
                          </a:solidFill>
                        </a:rPr>
                        <a:t>−9 pts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 u="none">
                <a:solidFill>
                  <a:srgbClr val="B00000"/>
                </a:solidFill>
                <a:latin typeface="Calibri"/>
              </a:rPr>
              <a:t>OCULTA: notas internas del facilitador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eakfa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4A1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7498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1" u="none">
                <a:solidFill>
                  <a:srgbClr val="FFFFFF"/>
                </a:solidFill>
                <a:latin typeface="Georgia"/>
              </a:rPr>
              <a:t>«Quien pregunta bien, </a:t>
            </a:r>
            <a:r>
              <a:rPr sz="3400" b="1" i="1" u="none">
                <a:solidFill>
                  <a:srgbClr val="F6B8A8"/>
                </a:solidFill>
                <a:latin typeface="Georgia"/>
              </a:rPr>
              <a:t>vende mejor</a:t>
            </a:r>
            <a:r>
              <a:rPr sz="3400" b="0" i="1" u="none">
                <a:solidFill>
                  <a:srgbClr val="FFFFFF"/>
                </a:solidFill>
                <a:latin typeface="Georgia"/>
              </a:rPr>
              <a:t>.»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u="none">
                <a:solidFill>
                  <a:srgbClr val="E8DDEA"/>
                </a:solidFill>
                <a:latin typeface="Calibri"/>
              </a:rPr>
              <a:t>Objetivo del trimestre: +15% de tasa de cierre · €2,4M en pipeline cualificado · ¡a por ello!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