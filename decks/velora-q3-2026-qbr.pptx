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5732027-e777-7dc7-8a1c-37a3e80bec14}">
          <p14:sldIdLst>
            <p14:sldId id="257"/>
          </p14:sldIdLst>
        </p14:section>
        <p14:section name="Financial performance" id="{424df404-ab3a-de04-7416-a71ea596009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rojects and delivery" id="{0c1252a1-c89f-501a-de7b-a162b16a9a17}">
          <p14:sldIdLst>
            <p14:sldId id="264"/>
            <p14:sldId id="265"/>
            <p14:sldId id="266"/>
            <p14:sldId id="267"/>
            <p14:sldId id="268"/>
          </p14:sldIdLst>
        </p14:section>
        <p14:section name="Company updates" id="{552fc668-c35e-6243-ce4d-dce8d75c9ad2}">
          <p14:sldIdLst>
            <p14:sldId id="269"/>
            <p14:sldId id="270"/>
            <p14:sldId id="271"/>
            <p14:sldId id="272"/>
          </p14:sldIdLst>
        </p14:section>
        <p14:section name="Outlook" id="{e58e0d01-cfde-16d2-c36a-df83eaf83e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A3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A32"/>
                </a:solidFill>
                <a:latin typeface="+mn-lt"/>
              </a:rPr>
              <a:t>Quarterly revenue (€M)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(€M)</c:v>
                </c:pt>
              </c:strCache>
            </c:strRef>
          </c:tx>
          <c:spPr>
            <a:solidFill>
              <a:srgbClr val="3D7C8C"/>
            </a:solidFill>
            <a:effectLst/>
          </c:spPr>
          <c:invertIfNegative val="0"/>
          <c:dLbls>
            <c:numFmt formatCode="&quot;€&quot;0.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Q1 25</c:v>
                  </c:pt>
                  <c:pt idx="1">
                    <c:v>Q2 25</c:v>
                  </c:pt>
                  <c:pt idx="2">
                    <c:v>Q3 25</c:v>
                  </c:pt>
                  <c:pt idx="3">
                    <c:v>Q4 25</c:v>
                  </c:pt>
                  <c:pt idx="4">
                    <c:v>Q1 26</c:v>
                  </c:pt>
                  <c:pt idx="5">
                    <c:v>Q2 26</c:v>
                  </c:pt>
                  <c:pt idx="6">
                    <c:v>Q3 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9.8</c:v>
                </c:pt>
                <c:pt idx="1">
                  <c:v>10.6</c:v>
                </c:pt>
                <c:pt idx="2">
                  <c:v>11.4</c:v>
                </c:pt>
                <c:pt idx="3">
                  <c:v>12.5</c:v>
                </c:pt>
                <c:pt idx="4">
                  <c:v>13.1</c:v>
                </c:pt>
                <c:pt idx="5">
                  <c:v>14</c:v>
                </c:pt>
                <c:pt idx="6">
                  <c:v>15.2</c:v>
                </c:pt>
              </c:numCache>
            </c:numRef>
          </c:val>
        </c:ser>
        <c:dLbls>
          <c:numFmt formatCode="&quot;€&quot;0.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52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Q3 2026 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7C8C"/>
              </a:solidFill>
              <a:effectLst/>
            </c:spPr>
          </c:dPt>
          <c:dPt>
            <c:idx val="1"/>
            <c:bubble3D val="0"/>
            <c:spPr>
              <a:solidFill>
                <a:srgbClr val="C2703D"/>
              </a:solidFill>
              <a:effectLst/>
            </c:spPr>
          </c:dPt>
          <c:dPt>
            <c:idx val="2"/>
            <c:bubble3D val="0"/>
            <c:spPr>
              <a:solidFill>
                <a:srgbClr val="E0A45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Subscriptions</c:v>
                </c:pt>
                <c:pt idx="1">
                  <c:v>Professional services</c:v>
                </c:pt>
                <c:pt idx="2">
                  <c:v>Marketplace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11.4</c:v>
                </c:pt>
                <c:pt idx="1">
                  <c:v>2.3</c:v>
                </c:pt>
                <c:pt idx="2">
                  <c:v>1.5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A3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A32"/>
                </a:solidFill>
                <a:latin typeface="+mn-lt"/>
              </a:rPr>
              <a:t>Cash balance at quarter end (€M)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balance (€M)</c:v>
                </c:pt>
              </c:strCache>
            </c:strRef>
          </c:tx>
          <c:spPr>
            <a:solidFill>
              <a:srgbClr val="C2703D"/>
            </a:solidFill>
            <a:ln w="38100" cap="flat">
              <a:solidFill>
                <a:srgbClr val="C2703D"/>
              </a:solidFill>
              <a:prstDash val="solid"/>
              <a:round/>
            </a:ln>
            <a:effectLst/>
          </c:spPr>
          <c:invertIfNegative val="0"/>
          <c:dLbls>
            <c:numFmt formatCode="&quot;€&quot;0.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C2703D"/>
              </a:solidFill>
              <a:ln w="9525" cap="flat">
                <a:solidFill>
                  <a:srgbClr val="C270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Q4 25</c:v>
                  </c:pt>
                  <c:pt idx="1">
                    <c:v>Q1 26</c:v>
                  </c:pt>
                  <c:pt idx="2">
                    <c:v>Q2 26</c:v>
                  </c:pt>
                  <c:pt idx="3">
                    <c:v>Q3 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34.2</c:v>
                </c:pt>
                <c:pt idx="1">
                  <c:v>35.1</c:v>
                </c:pt>
                <c:pt idx="2">
                  <c:v>36.7</c:v>
                </c:pt>
                <c:pt idx="3">
                  <c:v>38.6</c:v>
                </c:pt>
              </c:numCache>
            </c:numRef>
          </c:val>
          <c:smooth val="0"/>
        </c:ser>
        <c:dLbls>
          <c:numFmt formatCode="&quot;€&quot;0.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52C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A3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A32"/>
                </a:solidFill>
                <a:latin typeface="+mn-lt"/>
              </a:rPr>
              <a:t>Free cash flow per quarter (€M)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 (€M)</c:v>
                </c:pt>
              </c:strCache>
            </c:strRef>
          </c:tx>
          <c:spPr>
            <a:solidFill>
              <a:srgbClr val="3D7C8C"/>
            </a:solidFill>
            <a:effectLst/>
          </c:spPr>
          <c:invertIfNegative val="0"/>
          <c:dLbls>
            <c:numFmt formatCode="&quot;€&quot;0.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Q4 25</c:v>
                  </c:pt>
                  <c:pt idx="1">
                    <c:v>Q1 26</c:v>
                  </c:pt>
                  <c:pt idx="2">
                    <c:v>Q2 26</c:v>
                  </c:pt>
                  <c:pt idx="3">
                    <c:v>Q3 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0.9</c:v>
                </c:pt>
                <c:pt idx="2">
                  <c:v>1.6</c:v>
                </c:pt>
                <c:pt idx="3">
                  <c:v>1.9</c:v>
                </c:pt>
              </c:numCache>
            </c:numRef>
          </c:val>
        </c:ser>
        <c:dLbls>
          <c:numFmt formatCode="&quot;€&quot;0.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52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703D"/>
              </a:solidFill>
              <a:effectLst/>
            </c:spPr>
          </c:dPt>
          <c:dPt>
            <c:idx val="1"/>
            <c:bubble3D val="0"/>
            <c:spPr>
              <a:solidFill>
                <a:srgbClr val="E2E9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252C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252C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A3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A32"/>
                </a:solidFill>
                <a:latin typeface="+mn-lt"/>
              </a:rPr>
              <a:t>Headcount by department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Q3 2025</c:v>
                </c:pt>
              </c:strCache>
            </c:strRef>
          </c:tx>
          <c:spPr>
            <a:solidFill>
              <a:srgbClr val="9DB4B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Engineering</c:v>
                  </c:pt>
                  <c:pt idx="1">
                    <c:v>Sales &amp; Mktg</c:v>
                  </c:pt>
                  <c:pt idx="2">
                    <c:v>Customer Success</c:v>
                  </c:pt>
                  <c:pt idx="3">
                    <c:v>Product</c:v>
                  </c:pt>
                  <c:pt idx="4">
                    <c:v>G&amp;A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</c:v>
                </c:pt>
                <c:pt idx="1">
                  <c:v>72</c:v>
                </c:pt>
                <c:pt idx="2">
                  <c:v>45</c:v>
                </c:pt>
                <c:pt idx="3">
                  <c:v>20</c:v>
                </c:pt>
                <c:pt idx="4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2026</c:v>
                </c:pt>
              </c:strCache>
            </c:strRef>
          </c:tx>
          <c:spPr>
            <a:solidFill>
              <a:srgbClr val="3D7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Engineering</c:v>
                  </c:pt>
                  <c:pt idx="1">
                    <c:v>Sales &amp; Mktg</c:v>
                  </c:pt>
                  <c:pt idx="2">
                    <c:v>Customer Success</c:v>
                  </c:pt>
                  <c:pt idx="3">
                    <c:v>Product</c:v>
                  </c:pt>
                  <c:pt idx="4">
                    <c:v>G&amp;A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142</c:v>
                </c:pt>
                <c:pt idx="1">
                  <c:v>88</c:v>
                </c:pt>
                <c:pt idx="2">
                  <c:v>54</c:v>
                </c:pt>
                <c:pt idx="3">
                  <c:v>26</c:v>
                </c:pt>
                <c:pt idx="4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52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52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A3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A32"/>
                </a:solidFill>
                <a:latin typeface="+mn-lt"/>
              </a:rPr>
              <a:t>Active customers at quarter end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3D7C8C"/>
            </a:solidFill>
            <a:ln w="38100" cap="flat">
              <a:solidFill>
                <a:srgbClr val="3D7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2C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3D7C8C"/>
              </a:solidFill>
              <a:ln w="9525" cap="flat">
                <a:solidFill>
                  <a:srgbClr val="3D7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Q1 25</c:v>
                  </c:pt>
                  <c:pt idx="1">
                    <c:v>Q2 25</c:v>
                  </c:pt>
                  <c:pt idx="2">
                    <c:v>Q3 25</c:v>
                  </c:pt>
                  <c:pt idx="3">
                    <c:v>Q4 25</c:v>
                  </c:pt>
                  <c:pt idx="4">
                    <c:v>Q1 26</c:v>
                  </c:pt>
                  <c:pt idx="5">
                    <c:v>Q2 26</c:v>
                  </c:pt>
                  <c:pt idx="6">
                    <c:v>Q3 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1020</c:v>
                </c:pt>
                <c:pt idx="1">
                  <c:v>1085</c:v>
                </c:pt>
                <c:pt idx="2">
                  <c:v>1160</c:v>
                </c:pt>
                <c:pt idx="3">
                  <c:v>1240</c:v>
                </c:pt>
                <c:pt idx="4">
                  <c:v>1310</c:v>
                </c:pt>
                <c:pt idx="5">
                  <c:v>1395</c:v>
                </c:pt>
                <c:pt idx="6">
                  <c:v>1480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52C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"/>
          <c:min val="9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quarter was a record: revenue up a third year over year and EBITDA ahead of budget. We'll cover financials, projects, and company updates, and finish with three decisions we need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messages: we beat budget on revenue and profit; most projects are on track with one delay we need to decide on; and we grew the company through an acquisition and a new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First, the numbers: revenue, segments, P&amp;L and cash.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headline numbers are ahead of plan. The beat is mostly enterprise expansions, with margin helped by better services utilization while costs stayed on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quarters of uninterrupted growth. Q3 was the strongest sequential jump this year, and we are now running above sixty million euros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Subscriptions are 75% of revenue and growing 36%, which is what gives us predictability. Marketplace is small but growing fastest.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grew 33% while operating costs grew 23%, so EBITDA more than doubled. The only line above budget is sales and marketing, by one hundred thousand euros, tied to the Spain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cash flow has tripled since Q4 last year. We have no debt and can fund the 2027 plan, including Madrid, from our own cash.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to delivery: where each strategic project stands, who owns it and when it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projects are green. Platform 3.0 is amber because pilot data quality needs an extra sprint. The AI assistant is red: our model vendor slipped, and the beta moves to 15 December pending a vendor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 from today. November is the busiest month: ERP go-live, the first Spain clients, the AI vendor decision and the Platform 3.0 pilot. Platform 3.0 general availability closes the plan on 31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five milestones are done. The pilot is the critical step: data quality issues added a validation sprint, which is why the project is amber. Spend is in line with progress.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high-impact risks both sit on our delivery projects, and both already have a mitigation underway. Hiring in Madrid is the most likely risk to materialize.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Finally, the bigger company news and how the team and customer base are growing.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pieces of news: Datanube joins us, Madrid opens in January, Laura has taken over as CFO, and we have our first reseller in Argentina.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growth went into engineering, including the 22 people from Datanube. Engagement is up and attrition is below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added 102 customers and lost about 17, for a net 85. Existing customers spend 18% more than a year ago, which is the strongest signal of product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FY2025 revenue was about €44.3M, so €58.5M is +32%. We need three decisions: the AI vendor, the Madrid hiring plan and the start of the 2027 budget.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06324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6"/>
                </a:solidFill>
              </a:rPr>
              <a:t>Velora Systems · Q3 2026 Quarterly Business Review · Fictional sample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E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4BC"/>
                </a:solidFill>
              </a:rPr>
              <a:t>Velora Systems · Q3 2026 Quarterly Business Review · Fictional sample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4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 ring 1"/>
          <p:cNvSpPr/>
          <p:nvPr/>
        </p:nvSpPr>
        <p:spPr>
          <a:xfrm>
            <a:off x="6400800" y="137160"/>
            <a:ext cx="6583680" cy="658368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80000"/>
              </a:srgbClr>
            </a:solidFill>
            <a:prstDash val="solid"/>
          </a:ln>
        </p:spPr>
      </p:sp>
      <p:sp>
        <p:nvSpPr>
          <p:cNvPr id="3" name="Orb ring 2"/>
          <p:cNvSpPr/>
          <p:nvPr/>
        </p:nvSpPr>
        <p:spPr>
          <a:xfrm>
            <a:off x="7223760" y="960120"/>
            <a:ext cx="4937760" cy="493776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65000"/>
              </a:srgbClr>
            </a:solidFill>
            <a:prstDash val="solid"/>
          </a:ln>
        </p:spPr>
      </p:sp>
      <p:sp>
        <p:nvSpPr>
          <p:cNvPr id="4" name="Orb ring 3"/>
          <p:cNvSpPr/>
          <p:nvPr/>
        </p:nvSpPr>
        <p:spPr>
          <a:xfrm>
            <a:off x="8046720" y="1783080"/>
            <a:ext cx="3291840" cy="329184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50000"/>
              </a:srgbClr>
            </a:solidFill>
            <a:prstDash val="solid"/>
          </a:ln>
        </p:spPr>
      </p:sp>
      <p:sp>
        <p:nvSpPr>
          <p:cNvPr id="5" name="Orb core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6" name="Orb satellite 1"/>
          <p:cNvSpPr/>
          <p:nvPr/>
        </p:nvSpPr>
        <p:spPr>
          <a:xfrm>
            <a:off x="11292840" y="1463040"/>
            <a:ext cx="320040" cy="320040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Orb satellite 2"/>
          <p:cNvSpPr/>
          <p:nvPr/>
        </p:nvSpPr>
        <p:spPr>
          <a:xfrm>
            <a:off x="6995160" y="4709160"/>
            <a:ext cx="228600" cy="228600"/>
          </a:xfrm>
          <a:prstGeom prst="ellipse">
            <a:avLst/>
          </a:prstGeom>
          <a:solidFill>
            <a:srgbClr val="9DB4BC"/>
          </a:solidFill>
          <a:ln w="12700">
            <a:solidFill>
              <a:srgbClr val="9DB4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VELORA SYSTEMS</a:t>
            </a:r>
            <a:endParaRPr lang="en-US" sz="16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2194560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2026 Quarterly Business Review</a:t>
            </a:r>
            <a:endParaRPr lang="en-US" sz="4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31520" y="40690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Company all-hands · 29 October 2026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Fictional company and figures — sample deck for HOLO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at a glance: a record quarter</a:t>
            </a:r>
            <a:endParaRPr lang="en-US" sz="3600" dirty="0"/>
          </a:p>
        </p:txBody>
      </p:sp>
      <p:sp>
        <p:nvSpPr>
          <p:cNvPr id="3" name="Summary card 01"/>
          <p:cNvSpPr/>
          <p:nvPr/>
        </p:nvSpPr>
        <p:spPr>
          <a:xfrm>
            <a:off x="548640" y="1463040"/>
            <a:ext cx="685800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ummary number 01"/>
          <p:cNvSpPr/>
          <p:nvPr/>
        </p:nvSpPr>
        <p:spPr>
          <a:xfrm>
            <a:off x="777240" y="181051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Financial performance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Revenue €15.2M, +33% YoY and 2.7% ahead of budget; EBITDA €2.3M</a:t>
            </a:r>
            <a:endParaRPr lang="en-US" sz="1500" dirty="0"/>
          </a:p>
        </p:txBody>
      </p:sp>
      <p:sp>
        <p:nvSpPr>
          <p:cNvPr id="8" name="Summary card 02"/>
          <p:cNvSpPr/>
          <p:nvPr/>
        </p:nvSpPr>
        <p:spPr>
          <a:xfrm>
            <a:off x="548640" y="3017520"/>
            <a:ext cx="685800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ummary number 02"/>
          <p:cNvSpPr/>
          <p:nvPr/>
        </p:nvSpPr>
        <p:spPr>
          <a:xfrm>
            <a:off x="777240" y="336499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64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Projects and delivery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657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 of 6 projects on track; AI assistant beta delayed to 15 December</a:t>
            </a:r>
            <a:endParaRPr lang="en-US" sz="1500" dirty="0"/>
          </a:p>
        </p:txBody>
      </p:sp>
      <p:sp>
        <p:nvSpPr>
          <p:cNvPr id="13" name="Summary card 03"/>
          <p:cNvSpPr/>
          <p:nvPr/>
        </p:nvSpPr>
        <p:spPr>
          <a:xfrm>
            <a:off x="548640" y="4572000"/>
            <a:ext cx="685800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ummary number 03"/>
          <p:cNvSpPr/>
          <p:nvPr/>
        </p:nvSpPr>
        <p:spPr>
          <a:xfrm>
            <a:off x="777240" y="491947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919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Company updates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212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Datanube acquisition closed; Madrid office opens in January</a:t>
            </a:r>
            <a:endParaRPr lang="en-US" sz="1500" dirty="0"/>
          </a:p>
        </p:txBody>
      </p:sp>
      <p:sp>
        <p:nvSpPr>
          <p:cNvPr id="18" name="Headline stats panel"/>
          <p:cNvSpPr/>
          <p:nvPr/>
        </p:nvSpPr>
        <p:spPr>
          <a:xfrm>
            <a:off x="7726680" y="1463040"/>
            <a:ext cx="3913632" cy="4434840"/>
          </a:xfrm>
          <a:prstGeom prst="roundRect">
            <a:avLst>
              <a:gd name="adj" fmla="val 186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92440" y="1737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+33%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24505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revenue growth year over year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108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€2.3M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3822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EBITDA, 15% ahead of budget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4480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1,480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5193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customers, +85 in the quarter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 ring 1"/>
          <p:cNvSpPr/>
          <p:nvPr/>
        </p:nvSpPr>
        <p:spPr>
          <a:xfrm>
            <a:off x="6400800" y="137160"/>
            <a:ext cx="6583680" cy="658368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80000"/>
              </a:srgbClr>
            </a:solidFill>
            <a:prstDash val="solid"/>
          </a:ln>
        </p:spPr>
      </p:sp>
      <p:sp>
        <p:nvSpPr>
          <p:cNvPr id="3" name="Orb ring 2"/>
          <p:cNvSpPr/>
          <p:nvPr/>
        </p:nvSpPr>
        <p:spPr>
          <a:xfrm>
            <a:off x="7223760" y="960120"/>
            <a:ext cx="4937760" cy="493776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65000"/>
              </a:srgbClr>
            </a:solidFill>
            <a:prstDash val="solid"/>
          </a:ln>
        </p:spPr>
      </p:sp>
      <p:sp>
        <p:nvSpPr>
          <p:cNvPr id="4" name="Orb ring 3"/>
          <p:cNvSpPr/>
          <p:nvPr/>
        </p:nvSpPr>
        <p:spPr>
          <a:xfrm>
            <a:off x="8046720" y="1783080"/>
            <a:ext cx="3291840" cy="329184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50000"/>
              </a:srgbClr>
            </a:solidFill>
            <a:prstDash val="solid"/>
          </a:ln>
        </p:spPr>
      </p:sp>
      <p:sp>
        <p:nvSpPr>
          <p:cNvPr id="5" name="Orb core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6" name="Orb satellite 1"/>
          <p:cNvSpPr/>
          <p:nvPr/>
        </p:nvSpPr>
        <p:spPr>
          <a:xfrm>
            <a:off x="11292840" y="1463040"/>
            <a:ext cx="320040" cy="320040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Orb satellite 2"/>
          <p:cNvSpPr/>
          <p:nvPr/>
        </p:nvSpPr>
        <p:spPr>
          <a:xfrm>
            <a:off x="6995160" y="4709160"/>
            <a:ext cx="228600" cy="228600"/>
          </a:xfrm>
          <a:prstGeom prst="ellipse">
            <a:avLst/>
          </a:prstGeom>
          <a:solidFill>
            <a:srgbClr val="9DB4BC"/>
          </a:solidFill>
          <a:ln w="12700">
            <a:solidFill>
              <a:srgbClr val="9DB4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306324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performance</a:t>
            </a:r>
            <a:endParaRPr lang="en-US" sz="40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31520" y="402336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Revenue, profitability and cash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financials beat budget</a:t>
            </a:r>
            <a:endParaRPr lang="en-US" sz="3600" dirty="0"/>
          </a:p>
        </p:txBody>
      </p:sp>
      <p:sp>
        <p:nvSpPr>
          <p:cNvPr id="3" name="KPI card Revenue"/>
          <p:cNvSpPr/>
          <p:nvPr/>
        </p:nvSpPr>
        <p:spPr>
          <a:xfrm>
            <a:off x="548640" y="1417320"/>
            <a:ext cx="2567178" cy="26974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PI Revenue circle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pic>
        <p:nvPicPr>
          <p:cNvPr id="5" name="KPI Revenue icon" descr="KPI Reven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3337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23160"/>
            <a:ext cx="2018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€15.2M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27248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Revenue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01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+2.7% vs budget · +33% YoY</a:t>
            </a:r>
            <a:endParaRPr lang="en-US" sz="1200" dirty="0"/>
          </a:p>
        </p:txBody>
      </p:sp>
      <p:sp>
        <p:nvSpPr>
          <p:cNvPr id="9" name="KPI card Gross margin"/>
          <p:cNvSpPr/>
          <p:nvPr/>
        </p:nvSpPr>
        <p:spPr>
          <a:xfrm>
            <a:off x="3390138" y="1417320"/>
            <a:ext cx="2567178" cy="26974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PI Gross margin circle"/>
          <p:cNvSpPr/>
          <p:nvPr/>
        </p:nvSpPr>
        <p:spPr>
          <a:xfrm>
            <a:off x="3664458" y="1691640"/>
            <a:ext cx="566928" cy="566928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pic>
        <p:nvPicPr>
          <p:cNvPr id="11" name="KPI Gross margin icon" descr="KPI Gross mar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190" y="183337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4458" y="2423160"/>
            <a:ext cx="2018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71.1%</a:t>
            </a:r>
            <a:endParaRPr lang="en-US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3664458" y="3127248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Gross margin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64458" y="3474720"/>
            <a:ext cx="201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+0.8 pts vs budget · +2.6 pts YoY</a:t>
            </a:r>
            <a:endParaRPr lang="en-US" sz="1200" dirty="0"/>
          </a:p>
        </p:txBody>
      </p:sp>
      <p:sp>
        <p:nvSpPr>
          <p:cNvPr id="15" name="KPI card EBITDA"/>
          <p:cNvSpPr/>
          <p:nvPr/>
        </p:nvSpPr>
        <p:spPr>
          <a:xfrm>
            <a:off x="6231636" y="1417320"/>
            <a:ext cx="2567178" cy="26974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PI EBITDA circle"/>
          <p:cNvSpPr/>
          <p:nvPr/>
        </p:nvSpPr>
        <p:spPr>
          <a:xfrm>
            <a:off x="6505956" y="1691640"/>
            <a:ext cx="566928" cy="566928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pic>
        <p:nvPicPr>
          <p:cNvPr id="17" name="KPI EBITDA icon" descr="KPI EBITD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183337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5956" y="2423160"/>
            <a:ext cx="2018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€2.3M</a:t>
            </a:r>
            <a:endParaRPr lang="en-US" sz="3800" dirty="0"/>
          </a:p>
        </p:txBody>
      </p:sp>
      <p:sp>
        <p:nvSpPr>
          <p:cNvPr id="19" name="Text 14"/>
          <p:cNvSpPr txBox="1"/>
          <p:nvPr/>
        </p:nvSpPr>
        <p:spPr>
          <a:xfrm>
            <a:off x="6505956" y="3127248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EBITDA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505956" y="3474720"/>
            <a:ext cx="201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+15% vs budget · 2.6× Q3 2025</a:t>
            </a:r>
            <a:endParaRPr lang="en-US" sz="1200" dirty="0"/>
          </a:p>
        </p:txBody>
      </p:sp>
      <p:sp>
        <p:nvSpPr>
          <p:cNvPr id="21" name="KPI card Cash"/>
          <p:cNvSpPr/>
          <p:nvPr/>
        </p:nvSpPr>
        <p:spPr>
          <a:xfrm>
            <a:off x="9073134" y="1417320"/>
            <a:ext cx="2567178" cy="26974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KPI Cash circle"/>
          <p:cNvSpPr/>
          <p:nvPr/>
        </p:nvSpPr>
        <p:spPr>
          <a:xfrm>
            <a:off x="9347454" y="1691640"/>
            <a:ext cx="566928" cy="566928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pic>
        <p:nvPicPr>
          <p:cNvPr id="23" name="KPI Cash icon" descr="KPI C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186" y="1833372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47454" y="2423160"/>
            <a:ext cx="2018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€38.6M</a:t>
            </a:r>
            <a:endParaRPr lang="en-US" sz="3800" dirty="0"/>
          </a:p>
        </p:txBody>
      </p:sp>
      <p:sp>
        <p:nvSpPr>
          <p:cNvPr id="25" name="Text 19"/>
          <p:cNvSpPr txBox="1"/>
          <p:nvPr/>
        </p:nvSpPr>
        <p:spPr>
          <a:xfrm>
            <a:off x="9347454" y="3127248"/>
            <a:ext cx="201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347454" y="3474720"/>
            <a:ext cx="201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+€1.9M in the quarter · no debt</a:t>
            </a:r>
            <a:endParaRPr lang="en-US" sz="1200" dirty="0"/>
          </a:p>
        </p:txBody>
      </p:sp>
      <p:sp>
        <p:nvSpPr>
          <p:cNvPr id="27" name="What drove the beat panel"/>
          <p:cNvSpPr/>
          <p:nvPr/>
        </p:nvSpPr>
        <p:spPr>
          <a:xfrm>
            <a:off x="548640" y="4389120"/>
            <a:ext cx="11091672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drove the beat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5010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Enterprise upsells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49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€0.3M of the €0.4M revenue beat came from 14 enterprise expansions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434840" y="5010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Services efficiency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4434840" y="5349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Consultant utilization rose to 78%, lifting gross margin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8046720" y="5010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Disciplined opex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8046720" y="5349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Operating costs of €8.5M stayed within 2% of budget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up 33% year over year</a:t>
            </a:r>
            <a:endParaRPr lang="en-US" sz="3600" dirty="0"/>
          </a:p>
        </p:txBody>
      </p:sp>
      <p:graphicFrame>
        <p:nvGraphicFramePr>
          <p:cNvPr id="3" name="Quarterly revenue chart" descr=""/>
          <p:cNvGraphicFramePr/>
          <p:nvPr/>
        </p:nvGraphicFramePr>
        <p:xfrm>
          <a:off x="548640" y="1371600"/>
          <a:ext cx="74066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venue commentary"/>
          <p:cNvSpPr/>
          <p:nvPr/>
        </p:nvSpPr>
        <p:spPr>
          <a:xfrm>
            <a:off x="8275320" y="1463040"/>
            <a:ext cx="3364992" cy="4663440"/>
          </a:xfrm>
          <a:prstGeom prst="roundRect">
            <a:avLst>
              <a:gd name="adj" fmla="val 21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49640" y="1691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+33%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revenue growth, Q3 2026 vs Q3 2025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291840"/>
            <a:ext cx="2880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Revenue has grown every quarter since Q1 2025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Q3 up 8.6% on Q2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Annual run-rate now €60.8M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drive three quarters of revenue</a:t>
            </a:r>
            <a:endParaRPr lang="en-US" sz="3600" dirty="0"/>
          </a:p>
        </p:txBody>
      </p:sp>
      <p:graphicFrame>
        <p:nvGraphicFramePr>
          <p:cNvPr id="3" name="Revenue by segment chart" descr=""/>
          <p:cNvGraphicFramePr/>
          <p:nvPr/>
        </p:nvGraphicFramePr>
        <p:xfrm>
          <a:off x="548640" y="1325880"/>
          <a:ext cx="5120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2103120" y="3337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€15.2M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103120" y="3840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Q3 revenue</a:t>
            </a:r>
            <a:endParaRPr lang="en-US" sz="1300" dirty="0"/>
          </a:p>
        </p:txBody>
      </p:sp>
      <p:sp>
        <p:nvSpPr>
          <p:cNvPr id="6" name="Segment row Subscriptions"/>
          <p:cNvSpPr/>
          <p:nvPr/>
        </p:nvSpPr>
        <p:spPr>
          <a:xfrm>
            <a:off x="6035040" y="1463040"/>
            <a:ext cx="56052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egment key Subscriptions"/>
          <p:cNvSpPr/>
          <p:nvPr/>
        </p:nvSpPr>
        <p:spPr>
          <a:xfrm>
            <a:off x="6309360" y="1874520"/>
            <a:ext cx="320040" cy="320040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122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Subscriptions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75% of revenue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16276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€11.4M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2103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+36% YoY</a:t>
            </a:r>
            <a:endParaRPr lang="en-US" sz="1300" dirty="0"/>
          </a:p>
        </p:txBody>
      </p:sp>
      <p:sp>
        <p:nvSpPr>
          <p:cNvPr id="12" name="Segment row Professional services"/>
          <p:cNvSpPr/>
          <p:nvPr/>
        </p:nvSpPr>
        <p:spPr>
          <a:xfrm>
            <a:off x="6035040" y="2788920"/>
            <a:ext cx="56052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egment key Professional services"/>
          <p:cNvSpPr/>
          <p:nvPr/>
        </p:nvSpPr>
        <p:spPr>
          <a:xfrm>
            <a:off x="6309360" y="3200400"/>
            <a:ext cx="320040" cy="32004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Professional services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15% of revenue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0" y="2953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€2.3M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+15% YoY</a:t>
            </a:r>
            <a:endParaRPr lang="en-US" sz="1300" dirty="0"/>
          </a:p>
        </p:txBody>
      </p:sp>
      <p:sp>
        <p:nvSpPr>
          <p:cNvPr id="18" name="Segment row Marketplace"/>
          <p:cNvSpPr/>
          <p:nvPr/>
        </p:nvSpPr>
        <p:spPr>
          <a:xfrm>
            <a:off x="6035040" y="4114800"/>
            <a:ext cx="56052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egment key Marketplace"/>
          <p:cNvSpPr/>
          <p:nvPr/>
        </p:nvSpPr>
        <p:spPr>
          <a:xfrm>
            <a:off x="6309360" y="4526280"/>
            <a:ext cx="320040" cy="320040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1228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Marketplace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10% of revenue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418320" y="42793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€1.5M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418320" y="4754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+50% YoY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035040" y="5532120"/>
            <a:ext cx="5605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Marketplace is the fastest-growing segment, up 50% year over year.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P&amp;L: margins expanded across the board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680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1051560"/>
                <a:gridCol w="1051560"/>
                <a:gridCol w="10515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€ millions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Q3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Q3 2025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YoY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Budget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vs budget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Revenue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15.2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11.4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+33%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14.8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+0.4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Cost of revenue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4.4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3.6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+22%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4.4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+0.0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Gross profit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10.8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7.8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+38%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10.4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+0.4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Gross margin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71.1%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68.4%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+2.6 pts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70.3%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+0.8 pts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Sales &amp; marketing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4.3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3.5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+23%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4.2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+0.1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Research &amp; development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3.0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2.4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+25%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-0.1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General &amp; administrative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1.2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1.0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+20%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+0.1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Total operating costs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8.5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6.9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+23%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8.4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+0.1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EBITDA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+156%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+0.3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EBITDA margin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15.1%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7.9%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+7.2 pts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13.5%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+1.6 pts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Margin callouts"/>
          <p:cNvSpPr/>
          <p:nvPr/>
        </p:nvSpPr>
        <p:spPr>
          <a:xfrm>
            <a:off x="8549640" y="1417320"/>
            <a:ext cx="3090672" cy="4526280"/>
          </a:xfrm>
          <a:prstGeom prst="roundRect">
            <a:avLst>
              <a:gd name="adj" fmla="val 23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23960" y="16916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15.1%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8239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EBITDA margin, +7.2 pts YoY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71.1%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4023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Gross margin, +2.6 pts YoY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937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Revenue grew faster than every cost line.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position keeps strengthening</a:t>
            </a:r>
            <a:endParaRPr lang="en-US" sz="3600" dirty="0"/>
          </a:p>
        </p:txBody>
      </p:sp>
      <p:graphicFrame>
        <p:nvGraphicFramePr>
          <p:cNvPr id="3" name="Cash balance chart" descr=""/>
          <p:cNvGraphicFramePr/>
          <p:nvPr/>
        </p:nvGraphicFramePr>
        <p:xfrm>
          <a:off x="548640" y="1371600"/>
          <a:ext cx="53949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Free cash flow chart" descr=""/>
          <p:cNvGraphicFramePr/>
          <p:nvPr/>
        </p:nvGraphicFramePr>
        <p:xfrm>
          <a:off x="6245352" y="1371600"/>
          <a:ext cx="53949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ash stat 1"/>
          <p:cNvSpPr/>
          <p:nvPr/>
        </p:nvSpPr>
        <p:spPr>
          <a:xfrm>
            <a:off x="548640" y="5029200"/>
            <a:ext cx="3514344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22960" y="5138928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56692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debt on the balance sheet</a:t>
            </a:r>
            <a:endParaRPr lang="en-US" sz="1400" dirty="0"/>
          </a:p>
        </p:txBody>
      </p:sp>
      <p:sp>
        <p:nvSpPr>
          <p:cNvPr id="8" name="Cash stat 2"/>
          <p:cNvSpPr/>
          <p:nvPr/>
        </p:nvSpPr>
        <p:spPr>
          <a:xfrm>
            <a:off x="4337304" y="5029200"/>
            <a:ext cx="3514344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611624" y="5138928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€0.4M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4611624" y="56692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capital expenditure in Q3</a:t>
            </a:r>
            <a:endParaRPr lang="en-US" sz="1400" dirty="0"/>
          </a:p>
        </p:txBody>
      </p:sp>
      <p:sp>
        <p:nvSpPr>
          <p:cNvPr id="11" name="Cash stat 3"/>
          <p:cNvSpPr/>
          <p:nvPr/>
        </p:nvSpPr>
        <p:spPr>
          <a:xfrm>
            <a:off x="8125968" y="5029200"/>
            <a:ext cx="3514344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00288" y="5138928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Self-funded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400288" y="566928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 external funding needed for the FY2027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 ring 1"/>
          <p:cNvSpPr/>
          <p:nvPr/>
        </p:nvSpPr>
        <p:spPr>
          <a:xfrm>
            <a:off x="6400800" y="137160"/>
            <a:ext cx="6583680" cy="658368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80000"/>
              </a:srgbClr>
            </a:solidFill>
            <a:prstDash val="solid"/>
          </a:ln>
        </p:spPr>
      </p:sp>
      <p:sp>
        <p:nvSpPr>
          <p:cNvPr id="3" name="Orb ring 2"/>
          <p:cNvSpPr/>
          <p:nvPr/>
        </p:nvSpPr>
        <p:spPr>
          <a:xfrm>
            <a:off x="7223760" y="960120"/>
            <a:ext cx="4937760" cy="493776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65000"/>
              </a:srgbClr>
            </a:solidFill>
            <a:prstDash val="solid"/>
          </a:ln>
        </p:spPr>
      </p:sp>
      <p:sp>
        <p:nvSpPr>
          <p:cNvPr id="4" name="Orb ring 3"/>
          <p:cNvSpPr/>
          <p:nvPr/>
        </p:nvSpPr>
        <p:spPr>
          <a:xfrm>
            <a:off x="8046720" y="1783080"/>
            <a:ext cx="3291840" cy="329184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50000"/>
              </a:srgbClr>
            </a:solidFill>
            <a:prstDash val="solid"/>
          </a:ln>
        </p:spPr>
      </p:sp>
      <p:sp>
        <p:nvSpPr>
          <p:cNvPr id="5" name="Orb core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6" name="Orb satellite 1"/>
          <p:cNvSpPr/>
          <p:nvPr/>
        </p:nvSpPr>
        <p:spPr>
          <a:xfrm>
            <a:off x="11292840" y="1463040"/>
            <a:ext cx="320040" cy="320040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Orb satellite 2"/>
          <p:cNvSpPr/>
          <p:nvPr/>
        </p:nvSpPr>
        <p:spPr>
          <a:xfrm>
            <a:off x="6995160" y="4709160"/>
            <a:ext cx="228600" cy="228600"/>
          </a:xfrm>
          <a:prstGeom prst="ellipse">
            <a:avLst/>
          </a:prstGeom>
          <a:solidFill>
            <a:srgbClr val="9DB4BC"/>
          </a:solidFill>
          <a:ln w="12700">
            <a:solidFill>
              <a:srgbClr val="9DB4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306324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and delivery</a:t>
            </a:r>
            <a:endParaRPr lang="en-US" sz="40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31520" y="402336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Portfolio status, roadmap, milestones and risks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portfolio: 4 of 6 on track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514600"/>
                <a:gridCol w="1234440"/>
                <a:gridCol w="960120"/>
                <a:gridCol w="1051560"/>
                <a:gridCol w="2999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Responsible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Deadline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Progress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Next step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Platform 3.0 migration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Inês Carvalho, CTO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31 Mar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58%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 risk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Pilot with 10 customers by 30 Nov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Spain market expansion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Diego Martín, VP Sales Iberia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15 Jan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On track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Sign first 10 clients by 15 Nov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ERP rollout (finance)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Laura Gómez, CFO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30 Nov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85%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On track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Go-live 30 Nov after user testing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AI assistant beta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Tomás Ferreira, Head of Product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15 Dec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40%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Delayed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Vendor decision 15 Nov; beta moved from 31 Oct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SOC 2 Type II certification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Ana Ribeiro, Head of Security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28 Feb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On track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Audit window opens 1 Dec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Madrid office fit-out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Pablo Ruiz, COO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31 Jan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On track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Hiring wave of 25 roles from December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tatus count on track"/>
          <p:cNvSpPr/>
          <p:nvPr/>
        </p:nvSpPr>
        <p:spPr>
          <a:xfrm>
            <a:off x="548640" y="5532120"/>
            <a:ext cx="2148840" cy="594360"/>
          </a:xfrm>
          <a:prstGeom prst="roundRect">
            <a:avLst>
              <a:gd name="adj" fmla="val 49231"/>
            </a:avLst>
          </a:prstGeom>
          <a:solidFill>
            <a:srgbClr val="3F8F5B"/>
          </a:solidFill>
          <a:ln w="12700">
            <a:solidFill>
              <a:srgbClr val="3F8F5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532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 track</a:t>
            </a:r>
            <a:endParaRPr lang="en-US" sz="2000" dirty="0"/>
          </a:p>
        </p:txBody>
      </p:sp>
      <p:sp>
        <p:nvSpPr>
          <p:cNvPr id="6" name="Status count at risk"/>
          <p:cNvSpPr/>
          <p:nvPr/>
        </p:nvSpPr>
        <p:spPr>
          <a:xfrm>
            <a:off x="2926080" y="5532120"/>
            <a:ext cx="2148840" cy="594360"/>
          </a:xfrm>
          <a:prstGeom prst="roundRect">
            <a:avLst>
              <a:gd name="adj" fmla="val 49231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926080" y="5532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at risk</a:t>
            </a:r>
            <a:endParaRPr lang="en-US" sz="2000" dirty="0"/>
          </a:p>
        </p:txBody>
      </p:sp>
      <p:sp>
        <p:nvSpPr>
          <p:cNvPr id="8" name="Status count delayed"/>
          <p:cNvSpPr/>
          <p:nvPr/>
        </p:nvSpPr>
        <p:spPr>
          <a:xfrm>
            <a:off x="5303520" y="5532120"/>
            <a:ext cx="2148840" cy="594360"/>
          </a:xfrm>
          <a:prstGeom prst="roundRect">
            <a:avLst>
              <a:gd name="adj" fmla="val 49231"/>
            </a:avLst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5532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delayed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566928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Status as of 27 October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roadmap to April 2027</a:t>
            </a:r>
            <a:endParaRPr lang="en-US" sz="3600" dirty="0"/>
          </a:p>
        </p:txBody>
      </p:sp>
      <p:sp>
        <p:nvSpPr>
          <p:cNvPr id="3" name="Month Oct"/>
          <p:cNvSpPr/>
          <p:nvPr/>
        </p:nvSpPr>
        <p:spPr>
          <a:xfrm>
            <a:off x="3337560" y="1417320"/>
            <a:ext cx="1214082" cy="365760"/>
          </a:xfrm>
          <a:prstGeom prst="rect">
            <a:avLst/>
          </a:prstGeom>
          <a:solidFill>
            <a:srgbClr val="E2E9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337560" y="1417320"/>
            <a:ext cx="121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Oct 26</a:t>
            </a:r>
            <a:endParaRPr lang="en-US" sz="1300" dirty="0"/>
          </a:p>
        </p:txBody>
      </p:sp>
      <p:sp>
        <p:nvSpPr>
          <p:cNvPr id="5" name="Month Nov"/>
          <p:cNvSpPr/>
          <p:nvPr/>
        </p:nvSpPr>
        <p:spPr>
          <a:xfrm>
            <a:off x="4551642" y="1417320"/>
            <a:ext cx="1174918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51642" y="1417320"/>
            <a:ext cx="1174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Nov</a:t>
            </a:r>
            <a:endParaRPr lang="en-US" sz="1300" dirty="0"/>
          </a:p>
        </p:txBody>
      </p:sp>
      <p:sp>
        <p:nvSpPr>
          <p:cNvPr id="7" name="Month Dec"/>
          <p:cNvSpPr/>
          <p:nvPr/>
        </p:nvSpPr>
        <p:spPr>
          <a:xfrm>
            <a:off x="5726559" y="1417320"/>
            <a:ext cx="1214082" cy="365760"/>
          </a:xfrm>
          <a:prstGeom prst="rect">
            <a:avLst/>
          </a:prstGeom>
          <a:solidFill>
            <a:srgbClr val="E2E9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26559" y="1417320"/>
            <a:ext cx="121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Dec</a:t>
            </a:r>
            <a:endParaRPr lang="en-US" sz="1300" dirty="0"/>
          </a:p>
        </p:txBody>
      </p:sp>
      <p:sp>
        <p:nvSpPr>
          <p:cNvPr id="9" name="Month Jan"/>
          <p:cNvSpPr/>
          <p:nvPr/>
        </p:nvSpPr>
        <p:spPr>
          <a:xfrm>
            <a:off x="6940641" y="1417320"/>
            <a:ext cx="1214082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0641" y="1417320"/>
            <a:ext cx="121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Jan 27</a:t>
            </a:r>
            <a:endParaRPr lang="en-US" sz="1300" dirty="0"/>
          </a:p>
        </p:txBody>
      </p:sp>
      <p:sp>
        <p:nvSpPr>
          <p:cNvPr id="11" name="Month Feb"/>
          <p:cNvSpPr/>
          <p:nvPr/>
        </p:nvSpPr>
        <p:spPr>
          <a:xfrm>
            <a:off x="8154723" y="1417320"/>
            <a:ext cx="1096590" cy="365760"/>
          </a:xfrm>
          <a:prstGeom prst="rect">
            <a:avLst/>
          </a:prstGeom>
          <a:solidFill>
            <a:srgbClr val="E2E9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54723" y="1417320"/>
            <a:ext cx="1096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Feb</a:t>
            </a:r>
            <a:endParaRPr lang="en-US" sz="1300" dirty="0"/>
          </a:p>
        </p:txBody>
      </p:sp>
      <p:sp>
        <p:nvSpPr>
          <p:cNvPr id="13" name="Month Mar"/>
          <p:cNvSpPr/>
          <p:nvPr/>
        </p:nvSpPr>
        <p:spPr>
          <a:xfrm>
            <a:off x="9251313" y="1417320"/>
            <a:ext cx="1214082" cy="365760"/>
          </a:xfrm>
          <a:prstGeom prst="rect">
            <a:avLst/>
          </a:prstGeom>
          <a:solidFill>
            <a:srgbClr val="EEF2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51313" y="1417320"/>
            <a:ext cx="121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</a:t>
            </a:r>
            <a:endParaRPr lang="en-US" sz="1300" dirty="0"/>
          </a:p>
        </p:txBody>
      </p:sp>
      <p:sp>
        <p:nvSpPr>
          <p:cNvPr id="15" name="Month Apr"/>
          <p:cNvSpPr/>
          <p:nvPr/>
        </p:nvSpPr>
        <p:spPr>
          <a:xfrm>
            <a:off x="10465394" y="1417320"/>
            <a:ext cx="1174918" cy="365760"/>
          </a:xfrm>
          <a:prstGeom prst="rect">
            <a:avLst/>
          </a:prstGeom>
          <a:solidFill>
            <a:srgbClr val="E2E9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65394" y="1417320"/>
            <a:ext cx="1174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Apr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Platform 3.0 migration</a:t>
            </a:r>
            <a:endParaRPr lang="en-US" sz="1400" dirty="0"/>
          </a:p>
        </p:txBody>
      </p:sp>
      <p:sp>
        <p:nvSpPr>
          <p:cNvPr id="18" name="Bar Platform 3.0 migration"/>
          <p:cNvSpPr/>
          <p:nvPr/>
        </p:nvSpPr>
        <p:spPr>
          <a:xfrm>
            <a:off x="3337560" y="1993392"/>
            <a:ext cx="7088670" cy="219456"/>
          </a:xfrm>
          <a:prstGeom prst="roundRect">
            <a:avLst>
              <a:gd name="adj" fmla="val 50000"/>
            </a:avLst>
          </a:prstGeom>
          <a:solidFill>
            <a:srgbClr val="E0A458">
              <a:alpha val="65000"/>
            </a:srgbClr>
          </a:solidFill>
          <a:ln w="12700">
            <a:solidFill>
              <a:srgbClr val="E0A458">
                <a:alpha val="65000"/>
              </a:srgbClr>
            </a:solidFill>
            <a:prstDash val="solid"/>
          </a:ln>
        </p:spPr>
      </p:sp>
      <p:sp>
        <p:nvSpPr>
          <p:cNvPr id="19" name="Milestone Platform 3.0 migration Pilot"/>
          <p:cNvSpPr/>
          <p:nvPr/>
        </p:nvSpPr>
        <p:spPr>
          <a:xfrm>
            <a:off x="5559379" y="1975104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38755" y="224942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Pilot</a:t>
            </a:r>
            <a:endParaRPr lang="en-US" sz="1100" dirty="0"/>
          </a:p>
        </p:txBody>
      </p:sp>
      <p:sp>
        <p:nvSpPr>
          <p:cNvPr id="21" name="Milestone Platform 3.0 migration Tests"/>
          <p:cNvSpPr/>
          <p:nvPr/>
        </p:nvSpPr>
        <p:spPr>
          <a:xfrm>
            <a:off x="7987543" y="1975104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66919" y="224942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Tests</a:t>
            </a:r>
            <a:endParaRPr lang="en-US" sz="1100" dirty="0"/>
          </a:p>
        </p:txBody>
      </p:sp>
      <p:sp>
        <p:nvSpPr>
          <p:cNvPr id="23" name="Milestone Platform 3.0 migration GA"/>
          <p:cNvSpPr/>
          <p:nvPr/>
        </p:nvSpPr>
        <p:spPr>
          <a:xfrm>
            <a:off x="10298214" y="1975104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7590" y="224942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Spain market expansion</a:t>
            </a:r>
            <a:endParaRPr lang="en-US" sz="1400" dirty="0"/>
          </a:p>
        </p:txBody>
      </p:sp>
      <p:sp>
        <p:nvSpPr>
          <p:cNvPr id="26" name="Bar Spain market expansion"/>
          <p:cNvSpPr/>
          <p:nvPr/>
        </p:nvSpPr>
        <p:spPr>
          <a:xfrm>
            <a:off x="3337560" y="2660904"/>
            <a:ext cx="4151376" cy="219456"/>
          </a:xfrm>
          <a:prstGeom prst="roundRect">
            <a:avLst>
              <a:gd name="adj" fmla="val 50000"/>
            </a:avLst>
          </a:prstGeom>
          <a:solidFill>
            <a:srgbClr val="3F8F5B">
              <a:alpha val="65000"/>
            </a:srgbClr>
          </a:solidFill>
          <a:ln w="12700">
            <a:solidFill>
              <a:srgbClr val="3F8F5B">
                <a:alpha val="65000"/>
              </a:srgbClr>
            </a:solidFill>
            <a:prstDash val="solid"/>
          </a:ln>
        </p:spPr>
      </p:sp>
      <p:sp>
        <p:nvSpPr>
          <p:cNvPr id="27" name="Milestone Spain market expansion 10 clients"/>
          <p:cNvSpPr/>
          <p:nvPr/>
        </p:nvSpPr>
        <p:spPr>
          <a:xfrm>
            <a:off x="4971921" y="2642616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51297" y="2916936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 clients</a:t>
            </a:r>
            <a:endParaRPr lang="en-US" sz="1100" dirty="0"/>
          </a:p>
        </p:txBody>
      </p:sp>
      <p:sp>
        <p:nvSpPr>
          <p:cNvPr id="29" name="Milestone Spain market expansion Launch"/>
          <p:cNvSpPr/>
          <p:nvPr/>
        </p:nvSpPr>
        <p:spPr>
          <a:xfrm>
            <a:off x="7360920" y="2642616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40296" y="2916936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Launch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2552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ERP rollout</a:t>
            </a:r>
            <a:endParaRPr lang="en-US" sz="1400" dirty="0"/>
          </a:p>
        </p:txBody>
      </p:sp>
      <p:sp>
        <p:nvSpPr>
          <p:cNvPr id="32" name="Bar ERP rollout"/>
          <p:cNvSpPr/>
          <p:nvPr/>
        </p:nvSpPr>
        <p:spPr>
          <a:xfrm>
            <a:off x="3337560" y="3328416"/>
            <a:ext cx="2349835" cy="219456"/>
          </a:xfrm>
          <a:prstGeom prst="roundRect">
            <a:avLst>
              <a:gd name="adj" fmla="val 50000"/>
            </a:avLst>
          </a:prstGeom>
          <a:solidFill>
            <a:srgbClr val="3F8F5B">
              <a:alpha val="65000"/>
            </a:srgbClr>
          </a:solidFill>
          <a:ln w="12700">
            <a:solidFill>
              <a:srgbClr val="3F8F5B">
                <a:alpha val="65000"/>
              </a:srgbClr>
            </a:solidFill>
            <a:prstDash val="solid"/>
          </a:ln>
        </p:spPr>
      </p:sp>
      <p:sp>
        <p:nvSpPr>
          <p:cNvPr id="33" name="Milestone ERP rollout UAT"/>
          <p:cNvSpPr/>
          <p:nvPr/>
        </p:nvSpPr>
        <p:spPr>
          <a:xfrm>
            <a:off x="4736937" y="3310128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16313" y="358444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UAT</a:t>
            </a:r>
            <a:endParaRPr lang="en-US" sz="1100" dirty="0"/>
          </a:p>
        </p:txBody>
      </p:sp>
      <p:sp>
        <p:nvSpPr>
          <p:cNvPr id="35" name="Milestone ERP rollout Go-live"/>
          <p:cNvSpPr/>
          <p:nvPr/>
        </p:nvSpPr>
        <p:spPr>
          <a:xfrm>
            <a:off x="5559379" y="3310128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38755" y="358444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Go-live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39227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assistant beta</a:t>
            </a:r>
            <a:endParaRPr lang="en-US" sz="1400" dirty="0"/>
          </a:p>
        </p:txBody>
      </p:sp>
      <p:sp>
        <p:nvSpPr>
          <p:cNvPr id="38" name="Bar AI assistant beta"/>
          <p:cNvSpPr/>
          <p:nvPr/>
        </p:nvSpPr>
        <p:spPr>
          <a:xfrm>
            <a:off x="3337560" y="3995928"/>
            <a:ext cx="2937294" cy="219456"/>
          </a:xfrm>
          <a:prstGeom prst="roundRect">
            <a:avLst>
              <a:gd name="adj" fmla="val 50000"/>
            </a:avLst>
          </a:prstGeom>
          <a:solidFill>
            <a:srgbClr val="B23A3A">
              <a:alpha val="65000"/>
            </a:srgbClr>
          </a:solidFill>
          <a:ln w="12700">
            <a:solidFill>
              <a:srgbClr val="B23A3A">
                <a:alpha val="65000"/>
              </a:srgbClr>
            </a:solidFill>
            <a:prstDash val="solid"/>
          </a:ln>
        </p:spPr>
      </p:sp>
      <p:sp>
        <p:nvSpPr>
          <p:cNvPr id="39" name="Milestone AI assistant beta Vendor"/>
          <p:cNvSpPr/>
          <p:nvPr/>
        </p:nvSpPr>
        <p:spPr>
          <a:xfrm>
            <a:off x="4971921" y="3977640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1297" y="425196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Vendor</a:t>
            </a:r>
            <a:endParaRPr lang="en-US" sz="1100" dirty="0"/>
          </a:p>
        </p:txBody>
      </p:sp>
      <p:sp>
        <p:nvSpPr>
          <p:cNvPr id="41" name="Milestone AI assistant beta Beta"/>
          <p:cNvSpPr/>
          <p:nvPr/>
        </p:nvSpPr>
        <p:spPr>
          <a:xfrm>
            <a:off x="6146838" y="3977640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726214" y="425196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Beta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5902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SOC 2 Type II</a:t>
            </a:r>
            <a:endParaRPr lang="en-US" sz="1400" dirty="0"/>
          </a:p>
        </p:txBody>
      </p:sp>
      <p:sp>
        <p:nvSpPr>
          <p:cNvPr id="44" name="Bar SOC 2 Type II"/>
          <p:cNvSpPr/>
          <p:nvPr/>
        </p:nvSpPr>
        <p:spPr>
          <a:xfrm>
            <a:off x="3337560" y="4663440"/>
            <a:ext cx="5874589" cy="219456"/>
          </a:xfrm>
          <a:prstGeom prst="roundRect">
            <a:avLst>
              <a:gd name="adj" fmla="val 50000"/>
            </a:avLst>
          </a:prstGeom>
          <a:solidFill>
            <a:srgbClr val="3F8F5B">
              <a:alpha val="65000"/>
            </a:srgbClr>
          </a:solidFill>
          <a:ln w="12700">
            <a:solidFill>
              <a:srgbClr val="3F8F5B">
                <a:alpha val="65000"/>
              </a:srgbClr>
            </a:solidFill>
            <a:prstDash val="solid"/>
          </a:ln>
        </p:spPr>
      </p:sp>
      <p:sp>
        <p:nvSpPr>
          <p:cNvPr id="45" name="Milestone SOC 2 Type II Audit"/>
          <p:cNvSpPr/>
          <p:nvPr/>
        </p:nvSpPr>
        <p:spPr>
          <a:xfrm>
            <a:off x="5598543" y="4645152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77919" y="491947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</a:t>
            </a:r>
            <a:endParaRPr lang="en-US" sz="1100" dirty="0"/>
          </a:p>
        </p:txBody>
      </p:sp>
      <p:sp>
        <p:nvSpPr>
          <p:cNvPr id="47" name="Milestone SOC 2 Type II Report"/>
          <p:cNvSpPr/>
          <p:nvPr/>
        </p:nvSpPr>
        <p:spPr>
          <a:xfrm>
            <a:off x="9084133" y="4645152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663509" y="491947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Report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257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Madrid office</a:t>
            </a:r>
            <a:endParaRPr lang="en-US" sz="1400" dirty="0"/>
          </a:p>
        </p:txBody>
      </p:sp>
      <p:sp>
        <p:nvSpPr>
          <p:cNvPr id="50" name="Bar Madrid office"/>
          <p:cNvSpPr/>
          <p:nvPr/>
        </p:nvSpPr>
        <p:spPr>
          <a:xfrm>
            <a:off x="3337560" y="5330952"/>
            <a:ext cx="4777999" cy="219456"/>
          </a:xfrm>
          <a:prstGeom prst="roundRect">
            <a:avLst>
              <a:gd name="adj" fmla="val 50000"/>
            </a:avLst>
          </a:prstGeom>
          <a:solidFill>
            <a:srgbClr val="3F8F5B">
              <a:alpha val="65000"/>
            </a:srgbClr>
          </a:solidFill>
          <a:ln w="12700">
            <a:solidFill>
              <a:srgbClr val="3F8F5B">
                <a:alpha val="65000"/>
              </a:srgbClr>
            </a:solidFill>
            <a:prstDash val="solid"/>
          </a:ln>
        </p:spPr>
      </p:sp>
      <p:sp>
        <p:nvSpPr>
          <p:cNvPr id="51" name="Milestone Madrid office Hiring"/>
          <p:cNvSpPr/>
          <p:nvPr/>
        </p:nvSpPr>
        <p:spPr>
          <a:xfrm>
            <a:off x="6146838" y="5312664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26214" y="558698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Hiring</a:t>
            </a:r>
            <a:endParaRPr lang="en-US" sz="1100" dirty="0"/>
          </a:p>
        </p:txBody>
      </p:sp>
      <p:sp>
        <p:nvSpPr>
          <p:cNvPr id="53" name="Milestone Madrid office Opening"/>
          <p:cNvSpPr/>
          <p:nvPr/>
        </p:nvSpPr>
        <p:spPr>
          <a:xfrm>
            <a:off x="7987543" y="5312664"/>
            <a:ext cx="256032" cy="256032"/>
          </a:xfrm>
          <a:prstGeom prst="diamond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566919" y="558698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Opening</a:t>
            </a:r>
            <a:endParaRPr lang="en-US" sz="1100" dirty="0"/>
          </a:p>
        </p:txBody>
      </p:sp>
      <p:sp>
        <p:nvSpPr>
          <p:cNvPr id="55" name="Today marker"/>
          <p:cNvSpPr/>
          <p:nvPr/>
        </p:nvSpPr>
        <p:spPr>
          <a:xfrm>
            <a:off x="4355822" y="1783080"/>
            <a:ext cx="0" cy="4069080"/>
          </a:xfrm>
          <a:prstGeom prst="line">
            <a:avLst/>
          </a:prstGeom>
          <a:noFill/>
          <a:ln w="22225">
            <a:solidFill>
              <a:srgbClr val="C2703D"/>
            </a:solidFill>
            <a:prstDash val="dash"/>
          </a:ln>
        </p:spPr>
      </p:sp>
      <p:sp>
        <p:nvSpPr>
          <p:cNvPr id="56" name="Text 54"/>
          <p:cNvSpPr txBox="1"/>
          <p:nvPr/>
        </p:nvSpPr>
        <p:spPr>
          <a:xfrm>
            <a:off x="3898622" y="58704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Today</a:t>
            </a:r>
            <a:endParaRPr lang="en-US" sz="1100" dirty="0"/>
          </a:p>
        </p:txBody>
      </p:sp>
      <p:sp>
        <p:nvSpPr>
          <p:cNvPr id="57" name="Legend milestone"/>
          <p:cNvSpPr/>
          <p:nvPr/>
        </p:nvSpPr>
        <p:spPr>
          <a:xfrm>
            <a:off x="8321040" y="5943600"/>
            <a:ext cx="201168" cy="201168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595360" y="59161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Milestone</a:t>
            </a:r>
            <a:endParaRPr lang="en-US" sz="1100" dirty="0"/>
          </a:p>
        </p:txBody>
      </p:sp>
      <p:sp>
        <p:nvSpPr>
          <p:cNvPr id="59" name="Legend green"/>
          <p:cNvSpPr/>
          <p:nvPr/>
        </p:nvSpPr>
        <p:spPr>
          <a:xfrm>
            <a:off x="9464040" y="5961888"/>
            <a:ext cx="274320" cy="164592"/>
          </a:xfrm>
          <a:prstGeom prst="roundRect">
            <a:avLst>
              <a:gd name="adj" fmla="val 50000"/>
            </a:avLst>
          </a:prstGeom>
          <a:solidFill>
            <a:srgbClr val="3F8F5B">
              <a:alpha val="65000"/>
            </a:srgbClr>
          </a:solidFill>
          <a:ln w="12700">
            <a:solidFill>
              <a:srgbClr val="3F8F5B">
                <a:alpha val="65000"/>
              </a:srgbClr>
            </a:solidFill>
            <a:prstDash val="solid"/>
          </a:ln>
        </p:spPr>
      </p:sp>
      <p:sp>
        <p:nvSpPr>
          <p:cNvPr id="60" name="Legend amber"/>
          <p:cNvSpPr/>
          <p:nvPr/>
        </p:nvSpPr>
        <p:spPr>
          <a:xfrm>
            <a:off x="10378440" y="5961888"/>
            <a:ext cx="274320" cy="164592"/>
          </a:xfrm>
          <a:prstGeom prst="roundRect">
            <a:avLst>
              <a:gd name="adj" fmla="val 50000"/>
            </a:avLst>
          </a:prstGeom>
          <a:solidFill>
            <a:srgbClr val="E0A458">
              <a:alpha val="65000"/>
            </a:srgbClr>
          </a:solidFill>
          <a:ln w="12700">
            <a:solidFill>
              <a:srgbClr val="E0A458">
                <a:alpha val="65000"/>
              </a:srgbClr>
            </a:solidFill>
            <a:prstDash val="solid"/>
          </a:ln>
        </p:spPr>
      </p:sp>
      <p:sp>
        <p:nvSpPr>
          <p:cNvPr id="61" name="Legend red"/>
          <p:cNvSpPr/>
          <p:nvPr/>
        </p:nvSpPr>
        <p:spPr>
          <a:xfrm>
            <a:off x="11155680" y="5961888"/>
            <a:ext cx="274320" cy="164592"/>
          </a:xfrm>
          <a:prstGeom prst="roundRect">
            <a:avLst>
              <a:gd name="adj" fmla="val 50000"/>
            </a:avLst>
          </a:prstGeom>
          <a:solidFill>
            <a:srgbClr val="B23A3A">
              <a:alpha val="65000"/>
            </a:srgbClr>
          </a:solidFill>
          <a:ln w="12700">
            <a:solidFill>
              <a:srgbClr val="B23A3A">
                <a:alpha val="65000"/>
              </a:srgbClr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765792" y="59161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 track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10680192" y="591616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At risk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1457432" y="5916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Spotlight: Platform 3.0 migration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91640"/>
                <a:gridCol w="1280160"/>
                <a:gridCol w="1143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Milestone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Responsible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Deadline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M1 · Architecture sign-off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Inês Carvalho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15 Aug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Done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M2 · Data migration tooling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Rui Santos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30 Sep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Done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M3 · Pilot with 10 customers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Marta Lopes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30 Nov 2026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In progress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M4 · Performance and security tests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Ana Ribeiro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31 Jan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Not started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D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M5 · General availability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Inês Carvalho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31 Mar 2027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Not started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DE1"/>
                    </a:solidFill>
                  </a:tcPr>
                </a:tc>
              </a:tr>
            </a:tbl>
          </a:graphicData>
        </a:graphic>
      </p:graphicFrame>
      <p:sp>
        <p:nvSpPr>
          <p:cNvPr id="4" name="Platform scope"/>
          <p:cNvSpPr/>
          <p:nvPr/>
        </p:nvSpPr>
        <p:spPr>
          <a:xfrm>
            <a:off x="548640" y="5029200"/>
            <a:ext cx="73152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1389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Scope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Move all 1,480 customers to the new multi-tenant platform, cutting hosting cost per customer by 40%.</a:t>
            </a:r>
            <a:endParaRPr lang="en-US" sz="1500" dirty="0"/>
          </a:p>
        </p:txBody>
      </p:sp>
      <p:graphicFrame>
        <p:nvGraphicFramePr>
          <p:cNvPr id="6" name="Platform progress chart" descr=""/>
          <p:cNvGraphicFramePr/>
          <p:nvPr/>
        </p:nvGraphicFramePr>
        <p:xfrm>
          <a:off x="8321040" y="1325880"/>
          <a:ext cx="32918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9052560" y="2377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905256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complete</a:t>
            </a:r>
            <a:endParaRPr lang="en-US" sz="1300" dirty="0"/>
          </a:p>
        </p:txBody>
      </p:sp>
      <p:sp>
        <p:nvSpPr>
          <p:cNvPr id="9" name="Platform budget"/>
          <p:cNvSpPr/>
          <p:nvPr/>
        </p:nvSpPr>
        <p:spPr>
          <a:xfrm>
            <a:off x="8321040" y="4297680"/>
            <a:ext cx="33192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0" y="44988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€1.3M of €2.4M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5029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budget spent (54%), in line with progress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5669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Status: at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risks and who owns them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063240"/>
                <a:gridCol w="1005840"/>
                <a:gridCol w="1143000"/>
                <a:gridCol w="1691640"/>
                <a:gridCol w="3730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Likelihood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AI model vendor keeps slipping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Tomás Ferreira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Evaluate a second vendor in parallel; decide by 15 Nov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Pilot data quality for Platform 3.0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Inês Carvalho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Extra validation sprint before the pilot starts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Senior engineering hiring in Madrid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Pablo Ruiz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Specialist agency plus a doubled referral bonus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FX exposure on Argentine revenue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Laura Gómez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Monthly hedging review; price new deals in USD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2C"/>
                          </a:solidFill>
                        </a:rPr>
                        <a:t>Top 5 customers are 22% of revenue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4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F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Diego Martín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2C"/>
                          </a:solidFill>
                        </a:rPr>
                        <a:t>Mid-market push in Spain to broaden the base</a:t>
                      </a:r>
                      <a:endParaRPr lang="en-US" sz="13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Reviewed monthly by the executive team; owners report changes at each all-hands.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 ring 1"/>
          <p:cNvSpPr/>
          <p:nvPr/>
        </p:nvSpPr>
        <p:spPr>
          <a:xfrm>
            <a:off x="6400800" y="137160"/>
            <a:ext cx="6583680" cy="658368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80000"/>
              </a:srgbClr>
            </a:solidFill>
            <a:prstDash val="solid"/>
          </a:ln>
        </p:spPr>
      </p:sp>
      <p:sp>
        <p:nvSpPr>
          <p:cNvPr id="3" name="Orb ring 2"/>
          <p:cNvSpPr/>
          <p:nvPr/>
        </p:nvSpPr>
        <p:spPr>
          <a:xfrm>
            <a:off x="7223760" y="960120"/>
            <a:ext cx="4937760" cy="493776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65000"/>
              </a:srgbClr>
            </a:solidFill>
            <a:prstDash val="solid"/>
          </a:ln>
        </p:spPr>
      </p:sp>
      <p:sp>
        <p:nvSpPr>
          <p:cNvPr id="4" name="Orb ring 3"/>
          <p:cNvSpPr/>
          <p:nvPr/>
        </p:nvSpPr>
        <p:spPr>
          <a:xfrm>
            <a:off x="8046720" y="1783080"/>
            <a:ext cx="3291840" cy="3291840"/>
          </a:xfrm>
          <a:prstGeom prst="ellipse">
            <a:avLst/>
          </a:prstGeom>
          <a:solidFill>
            <a:srgbClr val="1E2A32"/>
          </a:solidFill>
          <a:ln w="15875">
            <a:solidFill>
              <a:srgbClr val="3D7C8C">
                <a:alpha val="50000"/>
              </a:srgbClr>
            </a:solidFill>
            <a:prstDash val="solid"/>
          </a:ln>
        </p:spPr>
      </p:sp>
      <p:sp>
        <p:nvSpPr>
          <p:cNvPr id="5" name="Orb core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6" name="Orb satellite 1"/>
          <p:cNvSpPr/>
          <p:nvPr/>
        </p:nvSpPr>
        <p:spPr>
          <a:xfrm>
            <a:off x="11292840" y="1463040"/>
            <a:ext cx="320040" cy="320040"/>
          </a:xfrm>
          <a:prstGeom prst="ellips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Orb satellite 2"/>
          <p:cNvSpPr/>
          <p:nvPr/>
        </p:nvSpPr>
        <p:spPr>
          <a:xfrm>
            <a:off x="6995160" y="4709160"/>
            <a:ext cx="228600" cy="228600"/>
          </a:xfrm>
          <a:prstGeom prst="ellipse">
            <a:avLst/>
          </a:prstGeom>
          <a:solidFill>
            <a:srgbClr val="9DB4BC"/>
          </a:solidFill>
          <a:ln w="12700">
            <a:solidFill>
              <a:srgbClr val="9DB4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306324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updates</a:t>
            </a:r>
            <a:endParaRPr lang="en-US" sz="40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731520" y="402336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Acquisition, offices, leadership, people and customers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company updates</a:t>
            </a:r>
            <a:endParaRPr lang="en-US" sz="3600" dirty="0"/>
          </a:p>
        </p:txBody>
      </p:sp>
      <p:sp>
        <p:nvSpPr>
          <p:cNvPr id="3" name="Update card Datanube acquisition closed"/>
          <p:cNvSpPr/>
          <p:nvPr/>
        </p:nvSpPr>
        <p:spPr>
          <a:xfrm>
            <a:off x="548640" y="1417320"/>
            <a:ext cx="5408676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pdate Datanube acquisition closed circle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pic>
        <p:nvPicPr>
          <p:cNvPr id="5" name="Update Datanube acquisition closed icon" descr="Update Datanube acquisition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Datanube acquisition closed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09397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September 2026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All-stock deal adds a 22-person analytics team and AI forecasting technology for Platform 3.0.</a:t>
            </a:r>
            <a:endParaRPr lang="en-US" sz="1500" dirty="0"/>
          </a:p>
        </p:txBody>
      </p:sp>
      <p:sp>
        <p:nvSpPr>
          <p:cNvPr id="9" name="Update card Madrid office opens in January"/>
          <p:cNvSpPr/>
          <p:nvPr/>
        </p:nvSpPr>
        <p:spPr>
          <a:xfrm>
            <a:off x="6231636" y="1417320"/>
            <a:ext cx="5408676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Update Madrid office opens in January circle"/>
          <p:cNvSpPr/>
          <p:nvPr/>
        </p:nvSpPr>
        <p:spPr>
          <a:xfrm>
            <a:off x="6505956" y="1691640"/>
            <a:ext cx="685800" cy="685800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pic>
        <p:nvPicPr>
          <p:cNvPr id="11" name="Update Madrid office opens in January icon" descr="Update Madrid office opens in Janua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406" y="186309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20356" y="169164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Madrid office opens in January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420356" y="209397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31 January 2027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05956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hub for Spain growth, with room for 80 people; 25 roles to hire from December.</a:t>
            </a:r>
            <a:endParaRPr lang="en-US" sz="1500" dirty="0"/>
          </a:p>
        </p:txBody>
      </p:sp>
      <p:sp>
        <p:nvSpPr>
          <p:cNvPr id="15" name="Update card New CFO: Laura Gómez"/>
          <p:cNvSpPr/>
          <p:nvPr/>
        </p:nvSpPr>
        <p:spPr>
          <a:xfrm>
            <a:off x="548640" y="3840480"/>
            <a:ext cx="5408676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Update New CFO: Laura Gómez circle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3D7C8C"/>
          </a:solidFill>
          <a:ln w="12700">
            <a:solidFill>
              <a:srgbClr val="3D7C8C"/>
            </a:solidFill>
            <a:prstDash val="solid"/>
          </a:ln>
        </p:spPr>
      </p:sp>
      <p:pic>
        <p:nvPicPr>
          <p:cNvPr id="17" name="Update New CFO: Laura Gómez icon" descr="Update New CFO: Laura Gómez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286250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37360" y="41148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New CFO: Laura Gómez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737360" y="451713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Joined July 2026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 SaaS finance director; leads the ERP rollout and the FY2027 budget.</a:t>
            </a:r>
            <a:endParaRPr lang="en-US" sz="1500" dirty="0"/>
          </a:p>
        </p:txBody>
      </p:sp>
      <p:sp>
        <p:nvSpPr>
          <p:cNvPr id="21" name="Update card Argentina reseller agreement"/>
          <p:cNvSpPr/>
          <p:nvPr/>
        </p:nvSpPr>
        <p:spPr>
          <a:xfrm>
            <a:off x="6231636" y="3840480"/>
            <a:ext cx="5408676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Update Argentina reseller agreement circle"/>
          <p:cNvSpPr/>
          <p:nvPr/>
        </p:nvSpPr>
        <p:spPr>
          <a:xfrm>
            <a:off x="6505956" y="4114800"/>
            <a:ext cx="685800" cy="685800"/>
          </a:xfrm>
          <a:prstGeom prst="ellipse">
            <a:avLst/>
          </a:prstGeom>
          <a:solidFill>
            <a:srgbClr val="C2703D"/>
          </a:solidFill>
          <a:ln w="12700">
            <a:solidFill>
              <a:srgbClr val="C2703D"/>
            </a:solidFill>
            <a:prstDash val="solid"/>
          </a:ln>
        </p:spPr>
      </p:sp>
      <p:pic>
        <p:nvPicPr>
          <p:cNvPr id="23" name="Update Argentina reseller agreement icon" descr="Update Argentina reseller agre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406" y="4286250"/>
            <a:ext cx="342900" cy="3429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20356" y="41148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Argentina reseller agreement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420356" y="451713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Signed October 2026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505956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Three-year deal covering Buenos Aires and Córdoba; first revenue expected in Q1 2027.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grew 22% to 344 people</a:t>
            </a:r>
            <a:endParaRPr lang="en-US" sz="3600" dirty="0"/>
          </a:p>
        </p:txBody>
      </p:sp>
      <p:graphicFrame>
        <p:nvGraphicFramePr>
          <p:cNvPr id="3" name="Headcount chart" descr=""/>
          <p:cNvGraphicFramePr/>
          <p:nvPr/>
        </p:nvGraphicFramePr>
        <p:xfrm>
          <a:off x="548640" y="137160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eople stat 1"/>
          <p:cNvSpPr/>
          <p:nvPr/>
        </p:nvSpPr>
        <p:spPr>
          <a:xfrm>
            <a:off x="8366760" y="1463040"/>
            <a:ext cx="3273552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6276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2267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people, +63 year over year</a:t>
            </a:r>
            <a:endParaRPr lang="en-US" sz="1400" dirty="0"/>
          </a:p>
        </p:txBody>
      </p:sp>
      <p:sp>
        <p:nvSpPr>
          <p:cNvPr id="7" name="People stat 2"/>
          <p:cNvSpPr/>
          <p:nvPr/>
        </p:nvSpPr>
        <p:spPr>
          <a:xfrm>
            <a:off x="8366760" y="3063240"/>
            <a:ext cx="32735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41080" y="32278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+38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3867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employee NPS, up 6 points on Q2</a:t>
            </a:r>
            <a:endParaRPr lang="en-US" sz="1400" dirty="0"/>
          </a:p>
        </p:txBody>
      </p:sp>
      <p:sp>
        <p:nvSpPr>
          <p:cNvPr id="10" name="People stat 3"/>
          <p:cNvSpPr/>
          <p:nvPr/>
        </p:nvSpPr>
        <p:spPr>
          <a:xfrm>
            <a:off x="8366760" y="4663440"/>
            <a:ext cx="327355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41080" y="48280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5468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annualized attrition, below 12%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Customers: growth with healthy retention</a:t>
            </a:r>
            <a:endParaRPr lang="en-US" sz="3600" dirty="0"/>
          </a:p>
        </p:txBody>
      </p:sp>
      <p:graphicFrame>
        <p:nvGraphicFramePr>
          <p:cNvPr id="3" name="Customers chart" descr=""/>
          <p:cNvGraphicFramePr/>
          <p:nvPr/>
        </p:nvGraphicFramePr>
        <p:xfrm>
          <a:off x="548640" y="1371600"/>
          <a:ext cx="63093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ustomer stat subscription ARR"/>
          <p:cNvSpPr/>
          <p:nvPr/>
        </p:nvSpPr>
        <p:spPr>
          <a:xfrm>
            <a:off x="7178040" y="1463040"/>
            <a:ext cx="2176272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874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€45.6M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26060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subscription ARR</a:t>
            </a:r>
            <a:endParaRPr lang="en-US" sz="1400" dirty="0"/>
          </a:p>
        </p:txBody>
      </p:sp>
      <p:sp>
        <p:nvSpPr>
          <p:cNvPr id="7" name="Customer stat net revenue retention"/>
          <p:cNvSpPr/>
          <p:nvPr/>
        </p:nvSpPr>
        <p:spPr>
          <a:xfrm>
            <a:off x="9464040" y="1463040"/>
            <a:ext cx="2176272" cy="2148840"/>
          </a:xfrm>
          <a:prstGeom prst="roundRect">
            <a:avLst>
              <a:gd name="adj" fmla="val 34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92640" y="1874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26060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net revenue retention</a:t>
            </a:r>
            <a:endParaRPr lang="en-US" sz="1400" dirty="0"/>
          </a:p>
        </p:txBody>
      </p:sp>
      <p:sp>
        <p:nvSpPr>
          <p:cNvPr id="10" name="Customer stat quarterly logo churn"/>
          <p:cNvSpPr/>
          <p:nvPr/>
        </p:nvSpPr>
        <p:spPr>
          <a:xfrm>
            <a:off x="7178040" y="3840480"/>
            <a:ext cx="2176272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42519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9834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quarterly logo churn</a:t>
            </a:r>
            <a:endParaRPr lang="en-US" sz="1400" dirty="0"/>
          </a:p>
        </p:txBody>
      </p:sp>
      <p:sp>
        <p:nvSpPr>
          <p:cNvPr id="13" name="Customer stat new customers in Q3"/>
          <p:cNvSpPr/>
          <p:nvPr/>
        </p:nvSpPr>
        <p:spPr>
          <a:xfrm>
            <a:off x="9464040" y="3840480"/>
            <a:ext cx="2176272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92640" y="42519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49834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new customers in Q3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outlook and decisions needed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Q4 2026 GUIDANCE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€16.0–16.4M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609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Q4 revenue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€2.5–2.8M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Q4 EBITDA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091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€58.5M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041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FY2026 revenue, +32% on FY2025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DECISIONS NEEDED TODAY</a:t>
            </a:r>
            <a:endParaRPr lang="en-US" sz="1500" dirty="0"/>
          </a:p>
        </p:txBody>
      </p:sp>
      <p:sp>
        <p:nvSpPr>
          <p:cNvPr id="11" name="Decision 1"/>
          <p:cNvSpPr/>
          <p:nvPr/>
        </p:nvSpPr>
        <p:spPr>
          <a:xfrm>
            <a:off x="5989320" y="1965960"/>
            <a:ext cx="5650992" cy="1143000"/>
          </a:xfrm>
          <a:prstGeom prst="roundRect">
            <a:avLst>
              <a:gd name="adj" fmla="val 6400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3D7C8C"/>
            </a:solidFill>
            <a:prstDash val="solid"/>
          </a:ln>
        </p:spPr>
      </p:sp>
      <p:sp>
        <p:nvSpPr>
          <p:cNvPr id="12" name="Decision number 1"/>
          <p:cNvSpPr/>
          <p:nvPr/>
        </p:nvSpPr>
        <p:spPr>
          <a:xfrm>
            <a:off x="6217920" y="22402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1671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the AI assistant vendor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6060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Tomás Ferreira · by 15 November</a:t>
            </a:r>
            <a:endParaRPr lang="en-US" sz="1400" dirty="0"/>
          </a:p>
        </p:txBody>
      </p:sp>
      <p:sp>
        <p:nvSpPr>
          <p:cNvPr id="16" name="Decision 2"/>
          <p:cNvSpPr/>
          <p:nvPr/>
        </p:nvSpPr>
        <p:spPr>
          <a:xfrm>
            <a:off x="5989320" y="3337560"/>
            <a:ext cx="5650992" cy="1143000"/>
          </a:xfrm>
          <a:prstGeom prst="roundRect">
            <a:avLst>
              <a:gd name="adj" fmla="val 6400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3D7C8C"/>
            </a:solidFill>
            <a:prstDash val="solid"/>
          </a:ln>
        </p:spPr>
      </p:sp>
      <p:sp>
        <p:nvSpPr>
          <p:cNvPr id="17" name="Decision number 2"/>
          <p:cNvSpPr/>
          <p:nvPr/>
        </p:nvSpPr>
        <p:spPr>
          <a:xfrm>
            <a:off x="6217920" y="36118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3611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5387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the Madrid hiring plan (25 roles)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39776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Pablo Ruiz · by 30 November</a:t>
            </a:r>
            <a:endParaRPr lang="en-US" sz="1400" dirty="0"/>
          </a:p>
        </p:txBody>
      </p:sp>
      <p:sp>
        <p:nvSpPr>
          <p:cNvPr id="21" name="Decision 3"/>
          <p:cNvSpPr/>
          <p:nvPr/>
        </p:nvSpPr>
        <p:spPr>
          <a:xfrm>
            <a:off x="5989320" y="4709160"/>
            <a:ext cx="5650992" cy="1143000"/>
          </a:xfrm>
          <a:prstGeom prst="roundRect">
            <a:avLst>
              <a:gd name="adj" fmla="val 6400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3D7C8C"/>
            </a:solidFill>
            <a:prstDash val="solid"/>
          </a:ln>
        </p:spPr>
      </p:sp>
      <p:sp>
        <p:nvSpPr>
          <p:cNvPr id="22" name="Decision number 3"/>
          <p:cNvSpPr/>
          <p:nvPr/>
        </p:nvSpPr>
        <p:spPr>
          <a:xfrm>
            <a:off x="6217920" y="49834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4983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49103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Launch the FY2027 budget process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53492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Laura Gómez · kickoff 4 November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4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lora Graphite Copper">
  <a:themeElements>
    <a:clrScheme name="Velora Graphite Copper">
      <a:dk1>
        <a:srgbClr val="1B252C"/>
      </a:dk1>
      <a:lt1>
        <a:srgbClr val="FFFFFF"/>
      </a:lt1>
      <a:dk2>
        <a:srgbClr val="1E2A32"/>
      </a:dk2>
      <a:lt2>
        <a:srgbClr val="EEF2F4"/>
      </a:lt2>
      <a:accent1>
        <a:srgbClr val="C2703D"/>
      </a:accent1>
      <a:accent2>
        <a:srgbClr val="3D7C8C"/>
      </a:accent2>
      <a:accent3>
        <a:srgbClr val="9DB4BC"/>
      </a:accent3>
      <a:accent4>
        <a:srgbClr val="E0A458"/>
      </a:accent4>
      <a:accent5>
        <a:srgbClr val="6B7A86"/>
      </a:accent5>
      <a:accent6>
        <a:srgbClr val="3F8F5B"/>
      </a:accent6>
      <a:hlink>
        <a:srgbClr val="3D7C8C"/>
      </a:hlink>
      <a:folHlink>
        <a:srgbClr val="6B7A86"/>
      </a:folHlink>
    </a:clrScheme>
    <a:fontScheme name="Velora Graphite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Velora Systems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Velora Systems — Q3 2026 Quarterly Business Review</dc:title>
  <dc:subject>PptxGenJS Presentation</dc:subject>
  <dc:creator>Velora Systems (fictional)</dc:creator>
  <cp:lastModifiedBy>Velora Systems (fictional)</cp:lastModifiedBy>
  <cp:revision>1</cp:revision>
  <dcterms:created xsi:type="dcterms:W3CDTF">2026-10-27T15:55:42Z</dcterms:created>
  <dcterms:modified xsi:type="dcterms:W3CDTF">2026-10-27T15:55:42Z</dcterms:modified>
</cp:coreProperties>
</file>