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5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6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7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27565529-b155-950f-8a7d-1b68d4538120}">
          <p14:sldIdLst>
            <p14:sldId id="257"/>
          </p14:sldIdLst>
        </p14:section>
        <p14:section name="Financial performance" id="{d89b62d5-dad4-77f5-ddf6-b1509cac76ff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Projects and delivery" id="{f5f0c1c0-1851-c5c6-1776-44318ad7e616}">
          <p14:sldIdLst>
            <p14:sldId id="264"/>
            <p14:sldId id="265"/>
            <p14:sldId id="266"/>
            <p14:sldId id="267"/>
            <p14:sldId id="268"/>
          </p14:sldIdLst>
        </p14:section>
        <p14:section name="Company updates" id="{aaf6e36e-9047-7459-c3da-f36670730d05}">
          <p14:sldIdLst>
            <p14:sldId id="269"/>
            <p14:sldId id="270"/>
            <p14:sldId id="271"/>
            <p14:sldId id="272"/>
          </p14:sldIdLst>
        </p14:section>
        <p14:section name="Outlook" id="{3c9678d9-b2e1-6289-fdb4-4e7b771a82bb}">
          <p14:sldIdLst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A32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E2A32"/>
                </a:solidFill>
                <a:latin typeface="+mn-lt"/>
              </a:rPr>
              <a:t>Quarterly revenue (€M)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(€M)</c:v>
                </c:pt>
              </c:strCache>
            </c:strRef>
          </c:tx>
          <c:spPr>
            <a:solidFill>
              <a:srgbClr val="3D7C8C"/>
            </a:solidFill>
            <a:effectLst/>
          </c:spPr>
          <c:invertIfNegative val="0"/>
          <c:dLbls>
            <c:numFmt formatCode="&quot;€&quot;0.0&quot;M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52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Q1 25</c:v>
                  </c:pt>
                  <c:pt idx="1">
                    <c:v>Q2 25</c:v>
                  </c:pt>
                  <c:pt idx="2">
                    <c:v>Q3 25</c:v>
                  </c:pt>
                  <c:pt idx="3">
                    <c:v>Q4 25</c:v>
                  </c:pt>
                  <c:pt idx="4">
                    <c:v>Q1 26</c:v>
                  </c:pt>
                  <c:pt idx="5">
                    <c:v>Q2 26</c:v>
                  </c:pt>
                  <c:pt idx="6">
                    <c:v>Q3 26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9.8</c:v>
                </c:pt>
                <c:pt idx="1">
                  <c:v>10.6</c:v>
                </c:pt>
                <c:pt idx="2">
                  <c:v>11.4</c:v>
                </c:pt>
                <c:pt idx="3">
                  <c:v>12.5</c:v>
                </c:pt>
                <c:pt idx="4">
                  <c:v>13.1</c:v>
                </c:pt>
                <c:pt idx="5">
                  <c:v>14</c:v>
                </c:pt>
                <c:pt idx="6">
                  <c:v>15.2</c:v>
                </c:pt>
              </c:numCache>
            </c:numRef>
          </c:val>
        </c:ser>
        <c:dLbls>
          <c:numFmt formatCode="&quot;€&quot;0.0&quot;M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B252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9D3D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8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8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Q3 2026 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D7C8C"/>
              </a:solidFill>
              <a:effectLst/>
            </c:spPr>
          </c:dPt>
          <c:dPt>
            <c:idx val="1"/>
            <c:bubble3D val="0"/>
            <c:spPr>
              <a:solidFill>
                <a:srgbClr val="C2703D"/>
              </a:solidFill>
              <a:effectLst/>
            </c:spPr>
          </c:dPt>
          <c:dPt>
            <c:idx val="2"/>
            <c:bubble3D val="0"/>
            <c:spPr>
              <a:solidFill>
                <a:srgbClr val="E0A45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Subscriptions</c:v>
                </c:pt>
                <c:pt idx="1">
                  <c:v>Professional services</c:v>
                </c:pt>
                <c:pt idx="2">
                  <c:v>Marketplace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11.4</c:v>
                </c:pt>
                <c:pt idx="1">
                  <c:v>2.3</c:v>
                </c:pt>
                <c:pt idx="2">
                  <c:v>1.5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A32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E2A32"/>
                </a:solidFill>
                <a:latin typeface="+mn-lt"/>
              </a:rPr>
              <a:t>Cash balance at quarter end (€M)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Cash balance (€M)</c:v>
                </c:pt>
              </c:strCache>
            </c:strRef>
          </c:tx>
          <c:spPr>
            <a:solidFill>
              <a:srgbClr val="C2703D"/>
            </a:solidFill>
            <a:ln w="38100" cap="flat">
              <a:solidFill>
                <a:srgbClr val="C2703D"/>
              </a:solidFill>
              <a:prstDash val="solid"/>
              <a:round/>
            </a:ln>
            <a:effectLst/>
          </c:spPr>
          <c:invertIfNegative val="0"/>
          <c:dLbls>
            <c:numFmt formatCode="&quot;€&quot;0.0&quot;M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52C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C2703D"/>
              </a:solidFill>
              <a:ln w="9525" cap="flat">
                <a:solidFill>
                  <a:srgbClr val="C270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Q4 25</c:v>
                  </c:pt>
                  <c:pt idx="1">
                    <c:v>Q1 26</c:v>
                  </c:pt>
                  <c:pt idx="2">
                    <c:v>Q2 26</c:v>
                  </c:pt>
                  <c:pt idx="3">
                    <c:v>Q3 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34.2</c:v>
                </c:pt>
                <c:pt idx="1">
                  <c:v>35.1</c:v>
                </c:pt>
                <c:pt idx="2">
                  <c:v>36.7</c:v>
                </c:pt>
                <c:pt idx="3">
                  <c:v>38.6</c:v>
                </c:pt>
              </c:numCache>
            </c:numRef>
          </c:val>
          <c:smooth val="0"/>
        </c:ser>
        <c:dLbls>
          <c:numFmt formatCode="&quot;€&quot;0.0&quot;M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B252C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9D3D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8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3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8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A32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E2A32"/>
                </a:solidFill>
                <a:latin typeface="+mn-lt"/>
              </a:rPr>
              <a:t>Free cash flow per quarter (€M)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Free cash flow (€M)</c:v>
                </c:pt>
              </c:strCache>
            </c:strRef>
          </c:tx>
          <c:spPr>
            <a:solidFill>
              <a:srgbClr val="3D7C8C"/>
            </a:solidFill>
            <a:effectLst/>
          </c:spPr>
          <c:invertIfNegative val="0"/>
          <c:dLbls>
            <c:numFmt formatCode="&quot;€&quot;0.0&quot;M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52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Q4 25</c:v>
                  </c:pt>
                  <c:pt idx="1">
                    <c:v>Q1 26</c:v>
                  </c:pt>
                  <c:pt idx="2">
                    <c:v>Q2 26</c:v>
                  </c:pt>
                  <c:pt idx="3">
                    <c:v>Q3 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</c:v>
                </c:pt>
                <c:pt idx="1">
                  <c:v>0.9</c:v>
                </c:pt>
                <c:pt idx="2">
                  <c:v>1.6</c:v>
                </c:pt>
                <c:pt idx="3">
                  <c:v>1.9</c:v>
                </c:pt>
              </c:numCache>
            </c:numRef>
          </c:val>
        </c:ser>
        <c:dLbls>
          <c:numFmt formatCode="&quot;€&quot;0.0&quot;M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B252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9D3D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8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8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Progress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2703D"/>
              </a:solidFill>
              <a:effectLst/>
            </c:spPr>
          </c:dPt>
          <c:dPt>
            <c:idx val="1"/>
            <c:bubble3D val="0"/>
            <c:spPr>
              <a:solidFill>
                <a:srgbClr val="E2E9E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B252C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B252C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Complete</c:v>
                </c:pt>
                <c:pt idx="1">
                  <c:v>Remaining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58</c:v>
                </c:pt>
                <c:pt idx="1">
                  <c:v>42</c:v>
                </c:pt>
              </c:numCache>
            </c:numRef>
          </c:val>
        </c:ser>
        <c:firstSliceAng val="0"/>
        <c:holeSize val="7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A32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E2A32"/>
                </a:solidFill>
                <a:latin typeface="+mn-lt"/>
              </a:rPr>
              <a:t>Headcount by department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Q3 2025</c:v>
                </c:pt>
              </c:strCache>
            </c:strRef>
          </c:tx>
          <c:spPr>
            <a:solidFill>
              <a:srgbClr val="9DB4B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52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Engineering</c:v>
                  </c:pt>
                  <c:pt idx="1">
                    <c:v>Sales &amp; Mktg</c:v>
                  </c:pt>
                  <c:pt idx="2">
                    <c:v>Customer Success</c:v>
                  </c:pt>
                  <c:pt idx="3">
                    <c:v>Product</c:v>
                  </c:pt>
                  <c:pt idx="4">
                    <c:v>G&amp;A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112</c:v>
                </c:pt>
                <c:pt idx="1">
                  <c:v>72</c:v>
                </c:pt>
                <c:pt idx="2">
                  <c:v>45</c:v>
                </c:pt>
                <c:pt idx="3">
                  <c:v>20</c:v>
                </c:pt>
                <c:pt idx="4">
                  <c:v>32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Q3 2026</c:v>
                </c:pt>
              </c:strCache>
            </c:strRef>
          </c:tx>
          <c:spPr>
            <a:solidFill>
              <a:srgbClr val="3D7C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52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Engineering</c:v>
                  </c:pt>
                  <c:pt idx="1">
                    <c:v>Sales &amp; Mktg</c:v>
                  </c:pt>
                  <c:pt idx="2">
                    <c:v>Customer Success</c:v>
                  </c:pt>
                  <c:pt idx="3">
                    <c:v>Product</c:v>
                  </c:pt>
                  <c:pt idx="4">
                    <c:v>G&amp;A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142</c:v>
                </c:pt>
                <c:pt idx="1">
                  <c:v>88</c:v>
                </c:pt>
                <c:pt idx="2">
                  <c:v>54</c:v>
                </c:pt>
                <c:pt idx="3">
                  <c:v>26</c:v>
                </c:pt>
                <c:pt idx="4">
                  <c:v>34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52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9D3D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8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8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B252C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A32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E2A32"/>
                </a:solidFill>
                <a:latin typeface="+mn-lt"/>
              </a:rPr>
              <a:t>Active customers at quarter end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3D7C8C"/>
            </a:solidFill>
            <a:ln w="38100" cap="flat">
              <a:solidFill>
                <a:srgbClr val="3D7C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52C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3D7C8C"/>
              </a:solidFill>
              <a:ln w="9525" cap="flat">
                <a:solidFill>
                  <a:srgbClr val="3D7C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Q1 25</c:v>
                  </c:pt>
                  <c:pt idx="1">
                    <c:v>Q2 25</c:v>
                  </c:pt>
                  <c:pt idx="2">
                    <c:v>Q3 25</c:v>
                  </c:pt>
                  <c:pt idx="3">
                    <c:v>Q4 25</c:v>
                  </c:pt>
                  <c:pt idx="4">
                    <c:v>Q1 26</c:v>
                  </c:pt>
                  <c:pt idx="5">
                    <c:v>Q2 26</c:v>
                  </c:pt>
                  <c:pt idx="6">
                    <c:v>Q3 26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1020</c:v>
                </c:pt>
                <c:pt idx="1">
                  <c:v>1085</c:v>
                </c:pt>
                <c:pt idx="2">
                  <c:v>1160</c:v>
                </c:pt>
                <c:pt idx="3">
                  <c:v>1240</c:v>
                </c:pt>
                <c:pt idx="4">
                  <c:v>1310</c:v>
                </c:pt>
                <c:pt idx="5">
                  <c:v>1395</c:v>
                </c:pt>
                <c:pt idx="6">
                  <c:v>1480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52C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9D3D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8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00"/>
          <c:min val="9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8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quarter was a record: revenue up a third year over year and EBITDA ahead of budget. We'll cover financials, projects, and company updates, and finish with three decisions we need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messages: we beat budget on revenue and profit; most projects are on track with one delay we need to decide on; and we grew the company through an acquisition and a new office.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First, the numbers: revenue, segments, P&amp;L and cash.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four headline numbers are ahead of plan. The beat is mostly enterprise expansions, with margin helped by better services utilization while costs stayed on budget.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quarters of uninterrupted growth. Q3 was the strongest sequential jump this year, and we are now running above sixty million euros a year.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Subscriptions are 75% of revenue and growing 36%, which is what gives us predictability. Marketplace is small but growing fastest.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 grew 33% while operating costs grew 23%, so EBITDA more than doubled. The only line above budget is sales and marketing, by one hundred thousand euros, tied to the Spain launch.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Free cash flow has tripled since Q4 last year. We have no debt and can fund the 2027 plan, including Madrid, from our own cash.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to delivery: where each strategic project stands, who owns it and when it lands.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projects are green. Platform 3.0 is amber because pilot data quality needs an extra sprint. The AI assistant is red: our model vendor slipped, and the beta moves to 15 December pending a vendor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left to right from today. November is the busiest month: ERP go-live, the first Spain clients, the AI vendor decision and the Platform 3.0 pilot. Platform 3.0 general availability closes the plan on 31 March.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of five milestones are done. The pilot is the critical step: data quality issues added a validation sprint, which is why the project is amber. Spend is in line with progress.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 high-impact risks both sit on our delivery projects, and both already have a mitigation underway. Hiring in Madrid is the most likely risk to materialize.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Finally, the bigger company news and how the team and customer base are growing.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pieces of news: Datanube joins us, Madrid opens in January, Laura has taken over as CFO, and we have our first reseller in Argentina.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growth went into engineering, including the 22 people from Datanube. Engagement is up and attrition is below target.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added 102 customers and lost about 17, for a net 85. Existing customers spend 18% more than a year ago, which is the strongest signal of product fit.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FY2025 revenue was about €44.3M, so €58.5M is +32%. We need three decisions: the AI vendor, the Madrid hiring plan and the start of the 2027 budget. Questions?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E2A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69494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069080"/>
            <a:ext cx="694944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rgbClr val="1E2A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3063240"/>
            <a:ext cx="67665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023360"/>
            <a:ext cx="67665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6"/>
                </a:solidFill>
              </a:rPr>
              <a:t>Velora Systems · Q3 2026 Quarterly Business Review · Fictional sample data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rgbClr val="1E2A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B4BC"/>
                </a:solidFill>
              </a:rPr>
              <a:t>Velora Systems · Q3 2026 Quarterly Business Review · Fictional sample data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B4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rb ring 1"/>
          <p:cNvSpPr/>
          <p:nvPr/>
        </p:nvSpPr>
        <p:spPr>
          <a:xfrm>
            <a:off x="6400800" y="137160"/>
            <a:ext cx="6583680" cy="6583680"/>
          </a:xfrm>
          <a:prstGeom prst="ellipse">
            <a:avLst/>
          </a:prstGeom>
          <a:solidFill>
            <a:srgbClr val="1E2A32"/>
          </a:solidFill>
          <a:ln w="15875">
            <a:solidFill>
              <a:srgbClr val="3D7C8C">
                <a:alpha val="80000"/>
              </a:srgbClr>
            </a:solidFill>
            <a:prstDash val="solid"/>
          </a:ln>
        </p:spPr>
      </p:sp>
      <p:sp>
        <p:nvSpPr>
          <p:cNvPr id="3" name="Orb ring 2"/>
          <p:cNvSpPr/>
          <p:nvPr/>
        </p:nvSpPr>
        <p:spPr>
          <a:xfrm>
            <a:off x="7223760" y="960120"/>
            <a:ext cx="4937760" cy="4937760"/>
          </a:xfrm>
          <a:prstGeom prst="ellipse">
            <a:avLst/>
          </a:prstGeom>
          <a:solidFill>
            <a:srgbClr val="1E2A32"/>
          </a:solidFill>
          <a:ln w="15875">
            <a:solidFill>
              <a:srgbClr val="3D7C8C">
                <a:alpha val="65000"/>
              </a:srgbClr>
            </a:solidFill>
            <a:prstDash val="solid"/>
          </a:ln>
        </p:spPr>
      </p:sp>
      <p:sp>
        <p:nvSpPr>
          <p:cNvPr id="4" name="Orb ring 3"/>
          <p:cNvSpPr/>
          <p:nvPr/>
        </p:nvSpPr>
        <p:spPr>
          <a:xfrm>
            <a:off x="8046720" y="1783080"/>
            <a:ext cx="3291840" cy="3291840"/>
          </a:xfrm>
          <a:prstGeom prst="ellipse">
            <a:avLst/>
          </a:prstGeom>
          <a:solidFill>
            <a:srgbClr val="1E2A32"/>
          </a:solidFill>
          <a:ln w="15875">
            <a:solidFill>
              <a:srgbClr val="3D7C8C">
                <a:alpha val="50000"/>
              </a:srgbClr>
            </a:solidFill>
            <a:prstDash val="solid"/>
          </a:ln>
        </p:spPr>
      </p:sp>
      <p:sp>
        <p:nvSpPr>
          <p:cNvPr id="5" name="Orb core"/>
          <p:cNvSpPr/>
          <p:nvPr/>
        </p:nvSpPr>
        <p:spPr>
          <a:xfrm>
            <a:off x="9189720" y="2926080"/>
            <a:ext cx="1005840" cy="1005840"/>
          </a:xfrm>
          <a:prstGeom prst="ellipse">
            <a:avLst/>
          </a:prstGeom>
          <a:solidFill>
            <a:srgbClr val="C2703D"/>
          </a:solidFill>
          <a:ln w="12700">
            <a:solidFill>
              <a:srgbClr val="C2703D"/>
            </a:solidFill>
            <a:prstDash val="solid"/>
          </a:ln>
        </p:spPr>
      </p:sp>
      <p:sp>
        <p:nvSpPr>
          <p:cNvPr id="6" name="Orb satellite 1"/>
          <p:cNvSpPr/>
          <p:nvPr/>
        </p:nvSpPr>
        <p:spPr>
          <a:xfrm>
            <a:off x="11292840" y="1463040"/>
            <a:ext cx="320040" cy="320040"/>
          </a:xfrm>
          <a:prstGeom prst="ellipse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7" name="Orb satellite 2"/>
          <p:cNvSpPr/>
          <p:nvPr/>
        </p:nvSpPr>
        <p:spPr>
          <a:xfrm>
            <a:off x="6995160" y="4709160"/>
            <a:ext cx="228600" cy="228600"/>
          </a:xfrm>
          <a:prstGeom prst="ellipse">
            <a:avLst/>
          </a:prstGeom>
          <a:solidFill>
            <a:srgbClr val="9DB4BC"/>
          </a:solidFill>
          <a:ln w="12700">
            <a:solidFill>
              <a:srgbClr val="9DB4B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chemeClr val="accent1"/>
                </a:solidFill>
              </a:rPr>
              <a:t>VELORA SYSTEMS</a:t>
            </a:r>
            <a:endParaRPr lang="en-US" sz="1600" dirty="0"/>
          </a:p>
        </p:txBody>
      </p:sp>
      <p:sp>
        <p:nvSpPr>
          <p:cNvPr id="9" name="Text 0"/>
          <p:cNvSpPr/>
          <p:nvPr>
            <p:ph idx="100" type="title" hasCustomPrompt="1"/>
          </p:nvPr>
        </p:nvSpPr>
        <p:spPr>
          <a:xfrm>
            <a:off x="731520" y="2194560"/>
            <a:ext cx="6949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 2026 Quarterly Business Review</a:t>
            </a:r>
            <a:endParaRPr lang="en-US" sz="4400" dirty="0"/>
          </a:p>
        </p:txBody>
      </p:sp>
      <p:sp>
        <p:nvSpPr>
          <p:cNvPr id="10" name="Text 0"/>
          <p:cNvSpPr/>
          <p:nvPr>
            <p:ph idx="101" type="body" hasCustomPrompt="1"/>
          </p:nvPr>
        </p:nvSpPr>
        <p:spPr>
          <a:xfrm>
            <a:off x="731520" y="406908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Company all-hands · 29 October 2026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6035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Fictional company and figures — sample deck for LinkPresent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 at a glance: a record quarter</a:t>
            </a:r>
            <a:endParaRPr lang="en-US" sz="3600" dirty="0"/>
          </a:p>
        </p:txBody>
      </p:sp>
      <p:sp>
        <p:nvSpPr>
          <p:cNvPr id="3" name="Summary card 01"/>
          <p:cNvSpPr/>
          <p:nvPr/>
        </p:nvSpPr>
        <p:spPr>
          <a:xfrm>
            <a:off x="548640" y="1463040"/>
            <a:ext cx="685800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ummary number 01"/>
          <p:cNvSpPr/>
          <p:nvPr/>
        </p:nvSpPr>
        <p:spPr>
          <a:xfrm>
            <a:off x="777240" y="1810512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105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01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Financial performance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1031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Revenue €15.2M, +33% YoY and 2.7% ahead of budget; EBITDA €2.3M</a:t>
            </a:r>
            <a:endParaRPr lang="en-US" sz="1500" dirty="0"/>
          </a:p>
        </p:txBody>
      </p:sp>
      <p:sp>
        <p:nvSpPr>
          <p:cNvPr id="8" name="Summary card 02"/>
          <p:cNvSpPr/>
          <p:nvPr/>
        </p:nvSpPr>
        <p:spPr>
          <a:xfrm>
            <a:off x="548640" y="3017520"/>
            <a:ext cx="685800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ummary number 02"/>
          <p:cNvSpPr/>
          <p:nvPr/>
        </p:nvSpPr>
        <p:spPr>
          <a:xfrm>
            <a:off x="777240" y="3364992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364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02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3246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Projects and delivery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36576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4 of 6 projects on track; AI assistant beta delayed to 15 December</a:t>
            </a:r>
            <a:endParaRPr lang="en-US" sz="1500" dirty="0"/>
          </a:p>
        </p:txBody>
      </p:sp>
      <p:sp>
        <p:nvSpPr>
          <p:cNvPr id="13" name="Summary card 03"/>
          <p:cNvSpPr/>
          <p:nvPr/>
        </p:nvSpPr>
        <p:spPr>
          <a:xfrm>
            <a:off x="548640" y="4572000"/>
            <a:ext cx="685800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ummary number 03"/>
          <p:cNvSpPr/>
          <p:nvPr/>
        </p:nvSpPr>
        <p:spPr>
          <a:xfrm>
            <a:off x="777240" y="4919472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49194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691640" y="4800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Company updates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52120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Datanube acquisition closed; Madrid office opens in January</a:t>
            </a:r>
            <a:endParaRPr lang="en-US" sz="1500" dirty="0"/>
          </a:p>
        </p:txBody>
      </p:sp>
      <p:sp>
        <p:nvSpPr>
          <p:cNvPr id="18" name="Headline stats panel"/>
          <p:cNvSpPr/>
          <p:nvPr/>
        </p:nvSpPr>
        <p:spPr>
          <a:xfrm>
            <a:off x="7726680" y="1463040"/>
            <a:ext cx="3913632" cy="4434840"/>
          </a:xfrm>
          <a:prstGeom prst="roundRect">
            <a:avLst>
              <a:gd name="adj" fmla="val 186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92440" y="17373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+33%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8092440" y="24505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revenue growth year over year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1089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€2.3M</a:t>
            </a:r>
            <a:endParaRPr lang="en-US" sz="4000" dirty="0"/>
          </a:p>
        </p:txBody>
      </p:sp>
      <p:sp>
        <p:nvSpPr>
          <p:cNvPr id="22" name="Text 20"/>
          <p:cNvSpPr txBox="1"/>
          <p:nvPr/>
        </p:nvSpPr>
        <p:spPr>
          <a:xfrm>
            <a:off x="8092440" y="38221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EBITDA, 15% ahead of budget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092440" y="44805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1,480</a:t>
            </a:r>
            <a:endParaRPr lang="en-US" sz="400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51937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customers, +85 in the quarter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rb ring 1"/>
          <p:cNvSpPr/>
          <p:nvPr/>
        </p:nvSpPr>
        <p:spPr>
          <a:xfrm>
            <a:off x="6400800" y="137160"/>
            <a:ext cx="6583680" cy="6583680"/>
          </a:xfrm>
          <a:prstGeom prst="ellipse">
            <a:avLst/>
          </a:prstGeom>
          <a:solidFill>
            <a:srgbClr val="1E2A32"/>
          </a:solidFill>
          <a:ln w="15875">
            <a:solidFill>
              <a:srgbClr val="3D7C8C">
                <a:alpha val="80000"/>
              </a:srgbClr>
            </a:solidFill>
            <a:prstDash val="solid"/>
          </a:ln>
        </p:spPr>
      </p:sp>
      <p:sp>
        <p:nvSpPr>
          <p:cNvPr id="3" name="Orb ring 2"/>
          <p:cNvSpPr/>
          <p:nvPr/>
        </p:nvSpPr>
        <p:spPr>
          <a:xfrm>
            <a:off x="7223760" y="960120"/>
            <a:ext cx="4937760" cy="4937760"/>
          </a:xfrm>
          <a:prstGeom prst="ellipse">
            <a:avLst/>
          </a:prstGeom>
          <a:solidFill>
            <a:srgbClr val="1E2A32"/>
          </a:solidFill>
          <a:ln w="15875">
            <a:solidFill>
              <a:srgbClr val="3D7C8C">
                <a:alpha val="65000"/>
              </a:srgbClr>
            </a:solidFill>
            <a:prstDash val="solid"/>
          </a:ln>
        </p:spPr>
      </p:sp>
      <p:sp>
        <p:nvSpPr>
          <p:cNvPr id="4" name="Orb ring 3"/>
          <p:cNvSpPr/>
          <p:nvPr/>
        </p:nvSpPr>
        <p:spPr>
          <a:xfrm>
            <a:off x="8046720" y="1783080"/>
            <a:ext cx="3291840" cy="3291840"/>
          </a:xfrm>
          <a:prstGeom prst="ellipse">
            <a:avLst/>
          </a:prstGeom>
          <a:solidFill>
            <a:srgbClr val="1E2A32"/>
          </a:solidFill>
          <a:ln w="15875">
            <a:solidFill>
              <a:srgbClr val="3D7C8C">
                <a:alpha val="50000"/>
              </a:srgbClr>
            </a:solidFill>
            <a:prstDash val="solid"/>
          </a:ln>
        </p:spPr>
      </p:sp>
      <p:sp>
        <p:nvSpPr>
          <p:cNvPr id="5" name="Orb core"/>
          <p:cNvSpPr/>
          <p:nvPr/>
        </p:nvSpPr>
        <p:spPr>
          <a:xfrm>
            <a:off x="9189720" y="2926080"/>
            <a:ext cx="1005840" cy="1005840"/>
          </a:xfrm>
          <a:prstGeom prst="ellipse">
            <a:avLst/>
          </a:prstGeom>
          <a:solidFill>
            <a:srgbClr val="C2703D"/>
          </a:solidFill>
          <a:ln w="12700">
            <a:solidFill>
              <a:srgbClr val="C2703D"/>
            </a:solidFill>
            <a:prstDash val="solid"/>
          </a:ln>
        </p:spPr>
      </p:sp>
      <p:sp>
        <p:nvSpPr>
          <p:cNvPr id="6" name="Orb satellite 1"/>
          <p:cNvSpPr/>
          <p:nvPr/>
        </p:nvSpPr>
        <p:spPr>
          <a:xfrm>
            <a:off x="11292840" y="1463040"/>
            <a:ext cx="320040" cy="320040"/>
          </a:xfrm>
          <a:prstGeom prst="ellipse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7" name="Orb satellite 2"/>
          <p:cNvSpPr/>
          <p:nvPr/>
        </p:nvSpPr>
        <p:spPr>
          <a:xfrm>
            <a:off x="6995160" y="4709160"/>
            <a:ext cx="228600" cy="228600"/>
          </a:xfrm>
          <a:prstGeom prst="ellipse">
            <a:avLst/>
          </a:prstGeom>
          <a:solidFill>
            <a:srgbClr val="9DB4BC"/>
          </a:solidFill>
          <a:ln w="12700">
            <a:solidFill>
              <a:srgbClr val="9DB4B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18872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0" dirty="0"/>
          </a:p>
        </p:txBody>
      </p:sp>
      <p:sp>
        <p:nvSpPr>
          <p:cNvPr id="9" name="Text 0"/>
          <p:cNvSpPr/>
          <p:nvPr>
            <p:ph idx="100" type="title" hasCustomPrompt="1"/>
          </p:nvPr>
        </p:nvSpPr>
        <p:spPr>
          <a:xfrm>
            <a:off x="731520" y="3063240"/>
            <a:ext cx="6766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performance</a:t>
            </a:r>
            <a:endParaRPr lang="en-US" sz="4000" dirty="0"/>
          </a:p>
        </p:txBody>
      </p:sp>
      <p:sp>
        <p:nvSpPr>
          <p:cNvPr id="10" name="Text 0"/>
          <p:cNvSpPr/>
          <p:nvPr>
            <p:ph idx="101" type="body" hasCustomPrompt="1"/>
          </p:nvPr>
        </p:nvSpPr>
        <p:spPr>
          <a:xfrm>
            <a:off x="731520" y="402336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Revenue, profitability and cash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financials beat budget</a:t>
            </a:r>
            <a:endParaRPr lang="en-US" sz="3600" dirty="0"/>
          </a:p>
        </p:txBody>
      </p:sp>
      <p:sp>
        <p:nvSpPr>
          <p:cNvPr id="3" name="KPI card Revenue"/>
          <p:cNvSpPr/>
          <p:nvPr/>
        </p:nvSpPr>
        <p:spPr>
          <a:xfrm>
            <a:off x="548640" y="1417320"/>
            <a:ext cx="2567178" cy="2697480"/>
          </a:xfrm>
          <a:prstGeom prst="roundRect">
            <a:avLst>
              <a:gd name="adj" fmla="val 28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KPI Revenue circle"/>
          <p:cNvSpPr/>
          <p:nvPr/>
        </p:nvSpPr>
        <p:spPr>
          <a:xfrm>
            <a:off x="822960" y="1691640"/>
            <a:ext cx="566928" cy="566928"/>
          </a:xfrm>
          <a:prstGeom prst="ellipse">
            <a:avLst/>
          </a:prstGeom>
          <a:solidFill>
            <a:srgbClr val="3D7C8C"/>
          </a:solidFill>
          <a:ln w="12700">
            <a:solidFill>
              <a:srgbClr val="3D7C8C"/>
            </a:solidFill>
            <a:prstDash val="solid"/>
          </a:ln>
        </p:spPr>
      </p:sp>
      <p:pic>
        <p:nvPicPr>
          <p:cNvPr id="5" name="KPI Revenue icon" descr="KPI Reven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1833372"/>
            <a:ext cx="283464" cy="2834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423160"/>
            <a:ext cx="20185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€15.2M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127248"/>
            <a:ext cx="201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Revenue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474720"/>
            <a:ext cx="20185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+2.7% vs budget · +33% YoY</a:t>
            </a:r>
            <a:endParaRPr lang="en-US" sz="1200" dirty="0"/>
          </a:p>
        </p:txBody>
      </p:sp>
      <p:sp>
        <p:nvSpPr>
          <p:cNvPr id="9" name="KPI card Gross margin"/>
          <p:cNvSpPr/>
          <p:nvPr/>
        </p:nvSpPr>
        <p:spPr>
          <a:xfrm>
            <a:off x="3390138" y="1417320"/>
            <a:ext cx="2567178" cy="2697480"/>
          </a:xfrm>
          <a:prstGeom prst="roundRect">
            <a:avLst>
              <a:gd name="adj" fmla="val 28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KPI Gross margin circle"/>
          <p:cNvSpPr/>
          <p:nvPr/>
        </p:nvSpPr>
        <p:spPr>
          <a:xfrm>
            <a:off x="3664458" y="1691640"/>
            <a:ext cx="566928" cy="566928"/>
          </a:xfrm>
          <a:prstGeom prst="ellipse">
            <a:avLst/>
          </a:prstGeom>
          <a:solidFill>
            <a:srgbClr val="3D7C8C"/>
          </a:solidFill>
          <a:ln w="12700">
            <a:solidFill>
              <a:srgbClr val="3D7C8C"/>
            </a:solidFill>
            <a:prstDash val="solid"/>
          </a:ln>
        </p:spPr>
      </p:sp>
      <p:pic>
        <p:nvPicPr>
          <p:cNvPr id="11" name="KPI Gross margin icon" descr="KPI Gross marg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6190" y="183337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64458" y="2423160"/>
            <a:ext cx="20185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71.1%</a:t>
            </a:r>
            <a:endParaRPr lang="en-US" sz="3800" dirty="0"/>
          </a:p>
        </p:txBody>
      </p:sp>
      <p:sp>
        <p:nvSpPr>
          <p:cNvPr id="13" name="Text 9"/>
          <p:cNvSpPr txBox="1"/>
          <p:nvPr/>
        </p:nvSpPr>
        <p:spPr>
          <a:xfrm>
            <a:off x="3664458" y="3127248"/>
            <a:ext cx="201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Gross margin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3664458" y="3474720"/>
            <a:ext cx="20185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+0.8 pts vs budget · +2.6 pts YoY</a:t>
            </a:r>
            <a:endParaRPr lang="en-US" sz="1200" dirty="0"/>
          </a:p>
        </p:txBody>
      </p:sp>
      <p:sp>
        <p:nvSpPr>
          <p:cNvPr id="15" name="KPI card EBITDA"/>
          <p:cNvSpPr/>
          <p:nvPr/>
        </p:nvSpPr>
        <p:spPr>
          <a:xfrm>
            <a:off x="6231636" y="1417320"/>
            <a:ext cx="2567178" cy="2697480"/>
          </a:xfrm>
          <a:prstGeom prst="roundRect">
            <a:avLst>
              <a:gd name="adj" fmla="val 28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KPI EBITDA circle"/>
          <p:cNvSpPr/>
          <p:nvPr/>
        </p:nvSpPr>
        <p:spPr>
          <a:xfrm>
            <a:off x="6505956" y="1691640"/>
            <a:ext cx="566928" cy="566928"/>
          </a:xfrm>
          <a:prstGeom prst="ellipse">
            <a:avLst/>
          </a:prstGeom>
          <a:solidFill>
            <a:srgbClr val="C2703D"/>
          </a:solidFill>
          <a:ln w="12700">
            <a:solidFill>
              <a:srgbClr val="C2703D"/>
            </a:solidFill>
            <a:prstDash val="solid"/>
          </a:ln>
        </p:spPr>
      </p:sp>
      <p:pic>
        <p:nvPicPr>
          <p:cNvPr id="17" name="KPI EBITDA icon" descr="KPI EBITD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688" y="1833372"/>
            <a:ext cx="283464" cy="28346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505956" y="2423160"/>
            <a:ext cx="20185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€2.3M</a:t>
            </a:r>
            <a:endParaRPr lang="en-US" sz="3800" dirty="0"/>
          </a:p>
        </p:txBody>
      </p:sp>
      <p:sp>
        <p:nvSpPr>
          <p:cNvPr id="19" name="Text 14"/>
          <p:cNvSpPr txBox="1"/>
          <p:nvPr/>
        </p:nvSpPr>
        <p:spPr>
          <a:xfrm>
            <a:off x="6505956" y="3127248"/>
            <a:ext cx="201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EBITDA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505956" y="3474720"/>
            <a:ext cx="20185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+15% vs budget · 2.6× Q3 2025</a:t>
            </a:r>
            <a:endParaRPr lang="en-US" sz="1200" dirty="0"/>
          </a:p>
        </p:txBody>
      </p:sp>
      <p:sp>
        <p:nvSpPr>
          <p:cNvPr id="21" name="KPI card Cash"/>
          <p:cNvSpPr/>
          <p:nvPr/>
        </p:nvSpPr>
        <p:spPr>
          <a:xfrm>
            <a:off x="9073134" y="1417320"/>
            <a:ext cx="2567178" cy="2697480"/>
          </a:xfrm>
          <a:prstGeom prst="roundRect">
            <a:avLst>
              <a:gd name="adj" fmla="val 28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KPI Cash circle"/>
          <p:cNvSpPr/>
          <p:nvPr/>
        </p:nvSpPr>
        <p:spPr>
          <a:xfrm>
            <a:off x="9347454" y="1691640"/>
            <a:ext cx="566928" cy="566928"/>
          </a:xfrm>
          <a:prstGeom prst="ellipse">
            <a:avLst/>
          </a:prstGeom>
          <a:solidFill>
            <a:srgbClr val="3D7C8C"/>
          </a:solidFill>
          <a:ln w="12700">
            <a:solidFill>
              <a:srgbClr val="3D7C8C"/>
            </a:solidFill>
            <a:prstDash val="solid"/>
          </a:ln>
        </p:spPr>
      </p:sp>
      <p:pic>
        <p:nvPicPr>
          <p:cNvPr id="23" name="KPI Cash icon" descr="KPI Cas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9186" y="1833372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347454" y="2423160"/>
            <a:ext cx="20185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€38.6M</a:t>
            </a:r>
            <a:endParaRPr lang="en-US" sz="3800" dirty="0"/>
          </a:p>
        </p:txBody>
      </p:sp>
      <p:sp>
        <p:nvSpPr>
          <p:cNvPr id="25" name="Text 19"/>
          <p:cNvSpPr txBox="1"/>
          <p:nvPr/>
        </p:nvSpPr>
        <p:spPr>
          <a:xfrm>
            <a:off x="9347454" y="3127248"/>
            <a:ext cx="201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Cash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9347454" y="3474720"/>
            <a:ext cx="20185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+€1.9M in the quarter · no debt</a:t>
            </a:r>
            <a:endParaRPr lang="en-US" sz="1200" dirty="0"/>
          </a:p>
        </p:txBody>
      </p:sp>
      <p:sp>
        <p:nvSpPr>
          <p:cNvPr id="27" name="What drove the beat panel"/>
          <p:cNvSpPr/>
          <p:nvPr/>
        </p:nvSpPr>
        <p:spPr>
          <a:xfrm>
            <a:off x="548640" y="4389120"/>
            <a:ext cx="11091672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822960" y="455371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What drove the beat</a:t>
            </a:r>
            <a:endParaRPr lang="en-US" sz="1800" dirty="0"/>
          </a:p>
        </p:txBody>
      </p:sp>
      <p:sp>
        <p:nvSpPr>
          <p:cNvPr id="29" name="Text 23"/>
          <p:cNvSpPr txBox="1"/>
          <p:nvPr/>
        </p:nvSpPr>
        <p:spPr>
          <a:xfrm>
            <a:off x="822960" y="50109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Enterprise upsells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822960" y="53492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€0.3M of the €0.4M revenue beat came from 14 enterprise expansions</a:t>
            </a:r>
            <a:endParaRPr lang="en-US" sz="1400" dirty="0"/>
          </a:p>
        </p:txBody>
      </p:sp>
      <p:sp>
        <p:nvSpPr>
          <p:cNvPr id="31" name="Text 25"/>
          <p:cNvSpPr txBox="1"/>
          <p:nvPr/>
        </p:nvSpPr>
        <p:spPr>
          <a:xfrm>
            <a:off x="4434840" y="50109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Services efficiency</a:t>
            </a:r>
            <a:endParaRPr lang="en-US" sz="1500" dirty="0"/>
          </a:p>
        </p:txBody>
      </p:sp>
      <p:sp>
        <p:nvSpPr>
          <p:cNvPr id="32" name="Text 26"/>
          <p:cNvSpPr txBox="1"/>
          <p:nvPr/>
        </p:nvSpPr>
        <p:spPr>
          <a:xfrm>
            <a:off x="4434840" y="53492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Consultant utilization rose to 78%, lifting gross margin</a:t>
            </a:r>
            <a:endParaRPr lang="en-US" sz="1400" dirty="0"/>
          </a:p>
        </p:txBody>
      </p:sp>
      <p:sp>
        <p:nvSpPr>
          <p:cNvPr id="33" name="Text 27"/>
          <p:cNvSpPr txBox="1"/>
          <p:nvPr/>
        </p:nvSpPr>
        <p:spPr>
          <a:xfrm>
            <a:off x="8046720" y="50109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Disciplined opex</a:t>
            </a:r>
            <a:endParaRPr lang="en-US" sz="1500" dirty="0"/>
          </a:p>
        </p:txBody>
      </p:sp>
      <p:sp>
        <p:nvSpPr>
          <p:cNvPr id="34" name="Text 28"/>
          <p:cNvSpPr txBox="1"/>
          <p:nvPr/>
        </p:nvSpPr>
        <p:spPr>
          <a:xfrm>
            <a:off x="8046720" y="53492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Operating costs of €8.5M stayed within 2% of budget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up 33% year over year</a:t>
            </a:r>
            <a:endParaRPr lang="en-US" sz="3600" dirty="0"/>
          </a:p>
        </p:txBody>
      </p:sp>
      <p:graphicFrame>
        <p:nvGraphicFramePr>
          <p:cNvPr id="3" name="Quarterly revenue chart" descr=""/>
          <p:cNvGraphicFramePr/>
          <p:nvPr/>
        </p:nvGraphicFramePr>
        <p:xfrm>
          <a:off x="548640" y="1371600"/>
          <a:ext cx="7406640" cy="4800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Revenue commentary"/>
          <p:cNvSpPr/>
          <p:nvPr/>
        </p:nvSpPr>
        <p:spPr>
          <a:xfrm>
            <a:off x="8275320" y="1463040"/>
            <a:ext cx="3364992" cy="4663440"/>
          </a:xfrm>
          <a:prstGeom prst="roundRect">
            <a:avLst>
              <a:gd name="adj" fmla="val 217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549640" y="16916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+33%</a:t>
            </a:r>
            <a:endParaRPr lang="en-US" sz="4800" dirty="0"/>
          </a:p>
        </p:txBody>
      </p:sp>
      <p:sp>
        <p:nvSpPr>
          <p:cNvPr id="6" name="Text 3"/>
          <p:cNvSpPr txBox="1"/>
          <p:nvPr/>
        </p:nvSpPr>
        <p:spPr>
          <a:xfrm>
            <a:off x="8549640" y="25146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revenue growth, Q3 2026 vs Q3 2025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549640" y="3291840"/>
            <a:ext cx="2880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Revenue has grown every quarter since Q1 2025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Q3 up 8.6% on Q2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Annual run-rate now €60.8M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Subscriptions drive three quarters of revenue</a:t>
            </a:r>
            <a:endParaRPr lang="en-US" sz="3600" dirty="0"/>
          </a:p>
        </p:txBody>
      </p:sp>
      <p:graphicFrame>
        <p:nvGraphicFramePr>
          <p:cNvPr id="3" name="Revenue by segment chart" descr=""/>
          <p:cNvGraphicFramePr/>
          <p:nvPr/>
        </p:nvGraphicFramePr>
        <p:xfrm>
          <a:off x="548640" y="1325880"/>
          <a:ext cx="51206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2103120" y="3337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€15.2M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2103120" y="3840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Q3 revenue</a:t>
            </a:r>
            <a:endParaRPr lang="en-US" sz="1300" dirty="0"/>
          </a:p>
        </p:txBody>
      </p:sp>
      <p:sp>
        <p:nvSpPr>
          <p:cNvPr id="6" name="Segment row Subscriptions"/>
          <p:cNvSpPr/>
          <p:nvPr/>
        </p:nvSpPr>
        <p:spPr>
          <a:xfrm>
            <a:off x="6035040" y="1463040"/>
            <a:ext cx="5605272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egment key Subscriptions"/>
          <p:cNvSpPr/>
          <p:nvPr/>
        </p:nvSpPr>
        <p:spPr>
          <a:xfrm>
            <a:off x="6309360" y="1874520"/>
            <a:ext cx="320040" cy="320040"/>
          </a:xfrm>
          <a:prstGeom prst="ellipse">
            <a:avLst/>
          </a:prstGeom>
          <a:solidFill>
            <a:srgbClr val="3D7C8C"/>
          </a:solidFill>
          <a:ln w="12700">
            <a:solidFill>
              <a:srgbClr val="3D7C8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12280" y="16642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Subscriptions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6812280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75% of revenue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9418320" y="16276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€11.4M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9418320" y="2103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+36% YoY</a:t>
            </a:r>
            <a:endParaRPr lang="en-US" sz="1300" dirty="0"/>
          </a:p>
        </p:txBody>
      </p:sp>
      <p:sp>
        <p:nvSpPr>
          <p:cNvPr id="12" name="Segment row Professional services"/>
          <p:cNvSpPr/>
          <p:nvPr/>
        </p:nvSpPr>
        <p:spPr>
          <a:xfrm>
            <a:off x="6035040" y="2788920"/>
            <a:ext cx="5605272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egment key Professional services"/>
          <p:cNvSpPr/>
          <p:nvPr/>
        </p:nvSpPr>
        <p:spPr>
          <a:xfrm>
            <a:off x="6309360" y="3200400"/>
            <a:ext cx="320040" cy="320040"/>
          </a:xfrm>
          <a:prstGeom prst="ellipse">
            <a:avLst/>
          </a:prstGeom>
          <a:solidFill>
            <a:srgbClr val="C2703D"/>
          </a:solidFill>
          <a:ln w="12700">
            <a:solidFill>
              <a:srgbClr val="C2703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12280" y="29900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Professional services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6812280" y="3383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15% of revenue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9418320" y="295351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€2.3M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9418320" y="3429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+15% YoY</a:t>
            </a:r>
            <a:endParaRPr lang="en-US" sz="1300" dirty="0"/>
          </a:p>
        </p:txBody>
      </p:sp>
      <p:sp>
        <p:nvSpPr>
          <p:cNvPr id="18" name="Segment row Marketplace"/>
          <p:cNvSpPr/>
          <p:nvPr/>
        </p:nvSpPr>
        <p:spPr>
          <a:xfrm>
            <a:off x="6035040" y="4114800"/>
            <a:ext cx="5605272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egment key Marketplace"/>
          <p:cNvSpPr/>
          <p:nvPr/>
        </p:nvSpPr>
        <p:spPr>
          <a:xfrm>
            <a:off x="6309360" y="4526280"/>
            <a:ext cx="320040" cy="320040"/>
          </a:xfrm>
          <a:prstGeom prst="ellipse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12280" y="43159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Marketplace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6812280" y="4709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10% of revenue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9418320" y="42793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€1.5M</a:t>
            </a:r>
            <a:endParaRPr lang="en-US" sz="2400" dirty="0"/>
          </a:p>
        </p:txBody>
      </p:sp>
      <p:sp>
        <p:nvSpPr>
          <p:cNvPr id="23" name="Text 20"/>
          <p:cNvSpPr txBox="1"/>
          <p:nvPr/>
        </p:nvSpPr>
        <p:spPr>
          <a:xfrm>
            <a:off x="9418320" y="4754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+50% YoY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6035040" y="5532120"/>
            <a:ext cx="5605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Marketplace is the fastest-growing segment, up 50% year over year.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P&amp;L: margins expanded across the board</a:t>
            </a:r>
            <a:endParaRPr lang="en-US" sz="3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7680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051560"/>
                <a:gridCol w="1051560"/>
                <a:gridCol w="1051560"/>
                <a:gridCol w="1051560"/>
                <a:gridCol w="10972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€ millions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Q3 2026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Q3 2025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YoY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Budget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vs budget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52C"/>
                          </a:solidFill>
                        </a:rPr>
                        <a:t>Revenue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52C"/>
                          </a:solidFill>
                        </a:rPr>
                        <a:t>15.2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52C"/>
                          </a:solidFill>
                        </a:rPr>
                        <a:t>11.4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52C"/>
                          </a:solidFill>
                        </a:rPr>
                        <a:t>+33%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52C"/>
                          </a:solidFill>
                        </a:rPr>
                        <a:t>14.8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52C"/>
                          </a:solidFill>
                        </a:rPr>
                        <a:t>+0.4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Cost of revenue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4.4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3.6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+22%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4.4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+0.0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52C"/>
                          </a:solidFill>
                        </a:rPr>
                        <a:t>Gross profit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52C"/>
                          </a:solidFill>
                        </a:rPr>
                        <a:t>10.8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52C"/>
                          </a:solidFill>
                        </a:rPr>
                        <a:t>7.8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52C"/>
                          </a:solidFill>
                        </a:rPr>
                        <a:t>+38%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52C"/>
                          </a:solidFill>
                        </a:rPr>
                        <a:t>10.4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52C"/>
                          </a:solidFill>
                        </a:rPr>
                        <a:t>+0.4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Gross margin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71.1%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68.4%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+2.6 pts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70.3%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+0.8 pts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Sales &amp; marketing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4.3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3.5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+23%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4.2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+0.1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Research &amp; development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3.0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2.4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+25%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3.1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-0.1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General &amp; administrative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1.2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1.0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+20%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1.1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+0.1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52C"/>
                          </a:solidFill>
                        </a:rPr>
                        <a:t>Total operating costs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52C"/>
                          </a:solidFill>
                        </a:rPr>
                        <a:t>8.5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52C"/>
                          </a:solidFill>
                        </a:rPr>
                        <a:t>6.9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52C"/>
                          </a:solidFill>
                        </a:rPr>
                        <a:t>+23%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52C"/>
                          </a:solidFill>
                        </a:rPr>
                        <a:t>8.4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52C"/>
                          </a:solidFill>
                        </a:rPr>
                        <a:t>+0.1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52C"/>
                          </a:solidFill>
                        </a:rPr>
                        <a:t>EBITDA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52C"/>
                          </a:solidFill>
                        </a:rPr>
                        <a:t>2.3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52C"/>
                          </a:solidFill>
                        </a:rPr>
                        <a:t>0.9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52C"/>
                          </a:solidFill>
                        </a:rPr>
                        <a:t>+156%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52C"/>
                          </a:solidFill>
                        </a:rPr>
                        <a:t>2.0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52C"/>
                          </a:solidFill>
                        </a:rPr>
                        <a:t>+0.3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EBITDA margin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15.1%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7.9%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+7.2 pts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13.5%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+1.6 pts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4" name="Margin callouts"/>
          <p:cNvSpPr/>
          <p:nvPr/>
        </p:nvSpPr>
        <p:spPr>
          <a:xfrm>
            <a:off x="8549640" y="1417320"/>
            <a:ext cx="3090672" cy="4526280"/>
          </a:xfrm>
          <a:prstGeom prst="roundRect">
            <a:avLst>
              <a:gd name="adj" fmla="val 23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823960" y="16916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15.1%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8823960" y="2423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EBITDA margin, +7.2 pts YoY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823960" y="32918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71.1%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8823960" y="40233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Gross margin, +2.6 pts YoY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823960" y="49377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bg1"/>
                </a:solidFill>
              </a:rPr>
              <a:t>Revenue grew faster than every cost line.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Cash position keeps strengthening</a:t>
            </a:r>
            <a:endParaRPr lang="en-US" sz="3600" dirty="0"/>
          </a:p>
        </p:txBody>
      </p:sp>
      <p:graphicFrame>
        <p:nvGraphicFramePr>
          <p:cNvPr id="3" name="Cash balance chart" descr=""/>
          <p:cNvGraphicFramePr/>
          <p:nvPr/>
        </p:nvGraphicFramePr>
        <p:xfrm>
          <a:off x="548640" y="1371600"/>
          <a:ext cx="539496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Free cash flow chart" descr=""/>
          <p:cNvGraphicFramePr/>
          <p:nvPr/>
        </p:nvGraphicFramePr>
        <p:xfrm>
          <a:off x="6245352" y="1371600"/>
          <a:ext cx="539496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Cash stat 1"/>
          <p:cNvSpPr/>
          <p:nvPr/>
        </p:nvSpPr>
        <p:spPr>
          <a:xfrm>
            <a:off x="548640" y="5029200"/>
            <a:ext cx="3514344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22960" y="5138928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€0</a:t>
            </a:r>
            <a:endParaRPr lang="en-US" sz="2600" dirty="0"/>
          </a:p>
        </p:txBody>
      </p:sp>
      <p:sp>
        <p:nvSpPr>
          <p:cNvPr id="7" name="Text 3"/>
          <p:cNvSpPr txBox="1"/>
          <p:nvPr/>
        </p:nvSpPr>
        <p:spPr>
          <a:xfrm>
            <a:off x="822960" y="566928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debt on the balance sheet</a:t>
            </a:r>
            <a:endParaRPr lang="en-US" sz="1400" dirty="0"/>
          </a:p>
        </p:txBody>
      </p:sp>
      <p:sp>
        <p:nvSpPr>
          <p:cNvPr id="8" name="Cash stat 2"/>
          <p:cNvSpPr/>
          <p:nvPr/>
        </p:nvSpPr>
        <p:spPr>
          <a:xfrm>
            <a:off x="4337304" y="5029200"/>
            <a:ext cx="3514344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611624" y="5138928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€0.4M</a:t>
            </a:r>
            <a:endParaRPr lang="en-US" sz="2600" dirty="0"/>
          </a:p>
        </p:txBody>
      </p:sp>
      <p:sp>
        <p:nvSpPr>
          <p:cNvPr id="10" name="Text 6"/>
          <p:cNvSpPr txBox="1"/>
          <p:nvPr/>
        </p:nvSpPr>
        <p:spPr>
          <a:xfrm>
            <a:off x="4611624" y="566928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capital expenditure in Q3</a:t>
            </a:r>
            <a:endParaRPr lang="en-US" sz="1400" dirty="0"/>
          </a:p>
        </p:txBody>
      </p:sp>
      <p:sp>
        <p:nvSpPr>
          <p:cNvPr id="11" name="Cash stat 3"/>
          <p:cNvSpPr/>
          <p:nvPr/>
        </p:nvSpPr>
        <p:spPr>
          <a:xfrm>
            <a:off x="8125968" y="5029200"/>
            <a:ext cx="3514344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400288" y="5138928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Self-funded</a:t>
            </a:r>
            <a:endParaRPr lang="en-US" sz="2600" dirty="0"/>
          </a:p>
        </p:txBody>
      </p:sp>
      <p:sp>
        <p:nvSpPr>
          <p:cNvPr id="13" name="Text 9"/>
          <p:cNvSpPr txBox="1"/>
          <p:nvPr/>
        </p:nvSpPr>
        <p:spPr>
          <a:xfrm>
            <a:off x="8400288" y="566928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no external funding needed for the FY2027 plan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rb ring 1"/>
          <p:cNvSpPr/>
          <p:nvPr/>
        </p:nvSpPr>
        <p:spPr>
          <a:xfrm>
            <a:off x="6400800" y="137160"/>
            <a:ext cx="6583680" cy="6583680"/>
          </a:xfrm>
          <a:prstGeom prst="ellipse">
            <a:avLst/>
          </a:prstGeom>
          <a:solidFill>
            <a:srgbClr val="1E2A32"/>
          </a:solidFill>
          <a:ln w="15875">
            <a:solidFill>
              <a:srgbClr val="3D7C8C">
                <a:alpha val="80000"/>
              </a:srgbClr>
            </a:solidFill>
            <a:prstDash val="solid"/>
          </a:ln>
        </p:spPr>
      </p:sp>
      <p:sp>
        <p:nvSpPr>
          <p:cNvPr id="3" name="Orb ring 2"/>
          <p:cNvSpPr/>
          <p:nvPr/>
        </p:nvSpPr>
        <p:spPr>
          <a:xfrm>
            <a:off x="7223760" y="960120"/>
            <a:ext cx="4937760" cy="4937760"/>
          </a:xfrm>
          <a:prstGeom prst="ellipse">
            <a:avLst/>
          </a:prstGeom>
          <a:solidFill>
            <a:srgbClr val="1E2A32"/>
          </a:solidFill>
          <a:ln w="15875">
            <a:solidFill>
              <a:srgbClr val="3D7C8C">
                <a:alpha val="65000"/>
              </a:srgbClr>
            </a:solidFill>
            <a:prstDash val="solid"/>
          </a:ln>
        </p:spPr>
      </p:sp>
      <p:sp>
        <p:nvSpPr>
          <p:cNvPr id="4" name="Orb ring 3"/>
          <p:cNvSpPr/>
          <p:nvPr/>
        </p:nvSpPr>
        <p:spPr>
          <a:xfrm>
            <a:off x="8046720" y="1783080"/>
            <a:ext cx="3291840" cy="3291840"/>
          </a:xfrm>
          <a:prstGeom prst="ellipse">
            <a:avLst/>
          </a:prstGeom>
          <a:solidFill>
            <a:srgbClr val="1E2A32"/>
          </a:solidFill>
          <a:ln w="15875">
            <a:solidFill>
              <a:srgbClr val="3D7C8C">
                <a:alpha val="50000"/>
              </a:srgbClr>
            </a:solidFill>
            <a:prstDash val="solid"/>
          </a:ln>
        </p:spPr>
      </p:sp>
      <p:sp>
        <p:nvSpPr>
          <p:cNvPr id="5" name="Orb core"/>
          <p:cNvSpPr/>
          <p:nvPr/>
        </p:nvSpPr>
        <p:spPr>
          <a:xfrm>
            <a:off x="9189720" y="2926080"/>
            <a:ext cx="1005840" cy="1005840"/>
          </a:xfrm>
          <a:prstGeom prst="ellipse">
            <a:avLst/>
          </a:prstGeom>
          <a:solidFill>
            <a:srgbClr val="C2703D"/>
          </a:solidFill>
          <a:ln w="12700">
            <a:solidFill>
              <a:srgbClr val="C2703D"/>
            </a:solidFill>
            <a:prstDash val="solid"/>
          </a:ln>
        </p:spPr>
      </p:sp>
      <p:sp>
        <p:nvSpPr>
          <p:cNvPr id="6" name="Orb satellite 1"/>
          <p:cNvSpPr/>
          <p:nvPr/>
        </p:nvSpPr>
        <p:spPr>
          <a:xfrm>
            <a:off x="11292840" y="1463040"/>
            <a:ext cx="320040" cy="320040"/>
          </a:xfrm>
          <a:prstGeom prst="ellipse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7" name="Orb satellite 2"/>
          <p:cNvSpPr/>
          <p:nvPr/>
        </p:nvSpPr>
        <p:spPr>
          <a:xfrm>
            <a:off x="6995160" y="4709160"/>
            <a:ext cx="228600" cy="228600"/>
          </a:xfrm>
          <a:prstGeom prst="ellipse">
            <a:avLst/>
          </a:prstGeom>
          <a:solidFill>
            <a:srgbClr val="9DB4BC"/>
          </a:solidFill>
          <a:ln w="12700">
            <a:solidFill>
              <a:srgbClr val="9DB4B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18872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0" dirty="0"/>
          </a:p>
        </p:txBody>
      </p:sp>
      <p:sp>
        <p:nvSpPr>
          <p:cNvPr id="9" name="Text 0"/>
          <p:cNvSpPr/>
          <p:nvPr>
            <p:ph idx="100" type="title" hasCustomPrompt="1"/>
          </p:nvPr>
        </p:nvSpPr>
        <p:spPr>
          <a:xfrm>
            <a:off x="731520" y="3063240"/>
            <a:ext cx="6766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Projects and delivery</a:t>
            </a:r>
            <a:endParaRPr lang="en-US" sz="4000" dirty="0"/>
          </a:p>
        </p:txBody>
      </p:sp>
      <p:sp>
        <p:nvSpPr>
          <p:cNvPr id="10" name="Text 0"/>
          <p:cNvSpPr/>
          <p:nvPr>
            <p:ph idx="101" type="body" hasCustomPrompt="1"/>
          </p:nvPr>
        </p:nvSpPr>
        <p:spPr>
          <a:xfrm>
            <a:off x="731520" y="402336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Portfolio status, roadmap, milestones and risks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portfolio: 4 of 6 on track</a:t>
            </a:r>
            <a:endParaRPr lang="en-US" sz="3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2514600"/>
                <a:gridCol w="1234440"/>
                <a:gridCol w="960120"/>
                <a:gridCol w="1051560"/>
                <a:gridCol w="299923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Project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Responsible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Deadline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Progress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Next step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52C"/>
                          </a:solidFill>
                        </a:rPr>
                        <a:t>Platform 3.0 migration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Inês Carvalho, CTO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31 Mar 2027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58%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At risk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A4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Pilot with 10 customers by 30 Nov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52C"/>
                          </a:solidFill>
                        </a:rPr>
                        <a:t>Spain market expansion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Diego Martín, VP Sales Iberia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15 Jan 2027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72%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On track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8F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Sign first 10 clients by 15 Nov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52C"/>
                          </a:solidFill>
                        </a:rPr>
                        <a:t>ERP rollout (finance)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Laura Gómez, CFO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30 Nov 2026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85%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On track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8F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Go-live 30 Nov after user testing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52C"/>
                          </a:solidFill>
                        </a:rPr>
                        <a:t>AI assistant beta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Tomás Ferreira, Head of Product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15 Dec 2026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40%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Delayed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3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Vendor decision 15 Nov; beta moved from 31 Oct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52C"/>
                          </a:solidFill>
                        </a:rPr>
                        <a:t>SOC 2 Type II certification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Ana Ribeiro, Head of Security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28 Feb 2027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50%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On track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8F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Audit window opens 1 Dec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52C"/>
                          </a:solidFill>
                        </a:rPr>
                        <a:t>Madrid office fit-out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Pablo Ruiz, COO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31 Jan 2027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65%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On track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8F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Hiring wave of 25 roles from December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4" name="Status count on track"/>
          <p:cNvSpPr/>
          <p:nvPr/>
        </p:nvSpPr>
        <p:spPr>
          <a:xfrm>
            <a:off x="548640" y="5532120"/>
            <a:ext cx="2148840" cy="594360"/>
          </a:xfrm>
          <a:prstGeom prst="roundRect">
            <a:avLst>
              <a:gd name="adj" fmla="val 49231"/>
            </a:avLst>
          </a:prstGeom>
          <a:solidFill>
            <a:srgbClr val="3F8F5B"/>
          </a:solidFill>
          <a:ln w="12700">
            <a:solidFill>
              <a:srgbClr val="3F8F5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55321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 </a:t>
            </a:r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on track</a:t>
            </a:r>
            <a:endParaRPr lang="en-US" sz="2000" dirty="0"/>
          </a:p>
        </p:txBody>
      </p:sp>
      <p:sp>
        <p:nvSpPr>
          <p:cNvPr id="6" name="Status count at risk"/>
          <p:cNvSpPr/>
          <p:nvPr/>
        </p:nvSpPr>
        <p:spPr>
          <a:xfrm>
            <a:off x="2926080" y="5532120"/>
            <a:ext cx="2148840" cy="594360"/>
          </a:xfrm>
          <a:prstGeom prst="roundRect">
            <a:avLst>
              <a:gd name="adj" fmla="val 49231"/>
            </a:avLst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926080" y="55321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 </a:t>
            </a:r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at risk</a:t>
            </a:r>
            <a:endParaRPr lang="en-US" sz="2000" dirty="0"/>
          </a:p>
        </p:txBody>
      </p:sp>
      <p:sp>
        <p:nvSpPr>
          <p:cNvPr id="8" name="Status count delayed"/>
          <p:cNvSpPr/>
          <p:nvPr/>
        </p:nvSpPr>
        <p:spPr>
          <a:xfrm>
            <a:off x="5303520" y="5532120"/>
            <a:ext cx="2148840" cy="594360"/>
          </a:xfrm>
          <a:prstGeom prst="roundRect">
            <a:avLst>
              <a:gd name="adj" fmla="val 49231"/>
            </a:avLst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303520" y="55321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 </a:t>
            </a:r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delayed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7863840" y="5669280"/>
            <a:ext cx="3776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Status as of 27 October 2026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roadmap to April 2027</a:t>
            </a:r>
            <a:endParaRPr lang="en-US" sz="3600" dirty="0"/>
          </a:p>
        </p:txBody>
      </p:sp>
      <p:sp>
        <p:nvSpPr>
          <p:cNvPr id="3" name="Month Oct"/>
          <p:cNvSpPr/>
          <p:nvPr/>
        </p:nvSpPr>
        <p:spPr>
          <a:xfrm>
            <a:off x="3337560" y="1417320"/>
            <a:ext cx="1214082" cy="365760"/>
          </a:xfrm>
          <a:prstGeom prst="rect">
            <a:avLst/>
          </a:prstGeom>
          <a:solidFill>
            <a:srgbClr val="E2E9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337560" y="1417320"/>
            <a:ext cx="12140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Oct 26</a:t>
            </a:r>
            <a:endParaRPr lang="en-US" sz="1300" dirty="0"/>
          </a:p>
        </p:txBody>
      </p:sp>
      <p:sp>
        <p:nvSpPr>
          <p:cNvPr id="5" name="Month Nov"/>
          <p:cNvSpPr/>
          <p:nvPr/>
        </p:nvSpPr>
        <p:spPr>
          <a:xfrm>
            <a:off x="4551642" y="1417320"/>
            <a:ext cx="1174918" cy="365760"/>
          </a:xfrm>
          <a:prstGeom prst="rect">
            <a:avLst/>
          </a:prstGeom>
          <a:solidFill>
            <a:srgbClr val="EEF2F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51642" y="1417320"/>
            <a:ext cx="11749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Nov</a:t>
            </a:r>
            <a:endParaRPr lang="en-US" sz="1300" dirty="0"/>
          </a:p>
        </p:txBody>
      </p:sp>
      <p:sp>
        <p:nvSpPr>
          <p:cNvPr id="7" name="Month Dec"/>
          <p:cNvSpPr/>
          <p:nvPr/>
        </p:nvSpPr>
        <p:spPr>
          <a:xfrm>
            <a:off x="5726559" y="1417320"/>
            <a:ext cx="1214082" cy="365760"/>
          </a:xfrm>
          <a:prstGeom prst="rect">
            <a:avLst/>
          </a:prstGeom>
          <a:solidFill>
            <a:srgbClr val="E2E9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26559" y="1417320"/>
            <a:ext cx="12140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Dec</a:t>
            </a:r>
            <a:endParaRPr lang="en-US" sz="1300" dirty="0"/>
          </a:p>
        </p:txBody>
      </p:sp>
      <p:sp>
        <p:nvSpPr>
          <p:cNvPr id="9" name="Month Jan"/>
          <p:cNvSpPr/>
          <p:nvPr/>
        </p:nvSpPr>
        <p:spPr>
          <a:xfrm>
            <a:off x="6940641" y="1417320"/>
            <a:ext cx="1214082" cy="365760"/>
          </a:xfrm>
          <a:prstGeom prst="rect">
            <a:avLst/>
          </a:prstGeom>
          <a:solidFill>
            <a:srgbClr val="EEF2F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940641" y="1417320"/>
            <a:ext cx="12140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Jan 27</a:t>
            </a:r>
            <a:endParaRPr lang="en-US" sz="1300" dirty="0"/>
          </a:p>
        </p:txBody>
      </p:sp>
      <p:sp>
        <p:nvSpPr>
          <p:cNvPr id="11" name="Month Feb"/>
          <p:cNvSpPr/>
          <p:nvPr/>
        </p:nvSpPr>
        <p:spPr>
          <a:xfrm>
            <a:off x="8154723" y="1417320"/>
            <a:ext cx="1096590" cy="365760"/>
          </a:xfrm>
          <a:prstGeom prst="rect">
            <a:avLst/>
          </a:prstGeom>
          <a:solidFill>
            <a:srgbClr val="E2E9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54723" y="1417320"/>
            <a:ext cx="10965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Feb</a:t>
            </a:r>
            <a:endParaRPr lang="en-US" sz="1300" dirty="0"/>
          </a:p>
        </p:txBody>
      </p:sp>
      <p:sp>
        <p:nvSpPr>
          <p:cNvPr id="13" name="Month Mar"/>
          <p:cNvSpPr/>
          <p:nvPr/>
        </p:nvSpPr>
        <p:spPr>
          <a:xfrm>
            <a:off x="9251313" y="1417320"/>
            <a:ext cx="1214082" cy="365760"/>
          </a:xfrm>
          <a:prstGeom prst="rect">
            <a:avLst/>
          </a:prstGeom>
          <a:solidFill>
            <a:srgbClr val="EEF2F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51313" y="1417320"/>
            <a:ext cx="12140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Mar</a:t>
            </a:r>
            <a:endParaRPr lang="en-US" sz="1300" dirty="0"/>
          </a:p>
        </p:txBody>
      </p:sp>
      <p:sp>
        <p:nvSpPr>
          <p:cNvPr id="15" name="Month Apr"/>
          <p:cNvSpPr/>
          <p:nvPr/>
        </p:nvSpPr>
        <p:spPr>
          <a:xfrm>
            <a:off x="10465394" y="1417320"/>
            <a:ext cx="1174918" cy="365760"/>
          </a:xfrm>
          <a:prstGeom prst="rect">
            <a:avLst/>
          </a:prstGeom>
          <a:solidFill>
            <a:srgbClr val="E2E9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465394" y="1417320"/>
            <a:ext cx="11749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Apr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19202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Platform 3.0 migration</a:t>
            </a:r>
            <a:endParaRPr lang="en-US" sz="1400" dirty="0"/>
          </a:p>
        </p:txBody>
      </p:sp>
      <p:sp>
        <p:nvSpPr>
          <p:cNvPr id="18" name="Bar Platform 3.0 migration"/>
          <p:cNvSpPr/>
          <p:nvPr/>
        </p:nvSpPr>
        <p:spPr>
          <a:xfrm>
            <a:off x="3337560" y="1993392"/>
            <a:ext cx="7088670" cy="219456"/>
          </a:xfrm>
          <a:prstGeom prst="roundRect">
            <a:avLst>
              <a:gd name="adj" fmla="val 50000"/>
            </a:avLst>
          </a:prstGeom>
          <a:solidFill>
            <a:srgbClr val="E0A458">
              <a:alpha val="65000"/>
            </a:srgbClr>
          </a:solidFill>
          <a:ln w="12700">
            <a:solidFill>
              <a:srgbClr val="E0A458">
                <a:alpha val="65000"/>
              </a:srgbClr>
            </a:solidFill>
            <a:prstDash val="solid"/>
          </a:ln>
        </p:spPr>
      </p:sp>
      <p:sp>
        <p:nvSpPr>
          <p:cNvPr id="19" name="Milestone Platform 3.0 migration Pilot"/>
          <p:cNvSpPr/>
          <p:nvPr/>
        </p:nvSpPr>
        <p:spPr>
          <a:xfrm>
            <a:off x="5559379" y="1975104"/>
            <a:ext cx="256032" cy="256032"/>
          </a:xfrm>
          <a:prstGeom prst="diamond">
            <a:avLst/>
          </a:prstGeom>
          <a:solidFill>
            <a:schemeClr val="tx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138755" y="2249424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Pilot</a:t>
            </a:r>
            <a:endParaRPr lang="en-US" sz="1100" dirty="0"/>
          </a:p>
        </p:txBody>
      </p:sp>
      <p:sp>
        <p:nvSpPr>
          <p:cNvPr id="21" name="Milestone Platform 3.0 migration Tests"/>
          <p:cNvSpPr/>
          <p:nvPr/>
        </p:nvSpPr>
        <p:spPr>
          <a:xfrm>
            <a:off x="7987543" y="1975104"/>
            <a:ext cx="256032" cy="256032"/>
          </a:xfrm>
          <a:prstGeom prst="diamond">
            <a:avLst/>
          </a:prstGeom>
          <a:solidFill>
            <a:schemeClr val="tx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66919" y="2249424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Tests</a:t>
            </a:r>
            <a:endParaRPr lang="en-US" sz="1100" dirty="0"/>
          </a:p>
        </p:txBody>
      </p:sp>
      <p:sp>
        <p:nvSpPr>
          <p:cNvPr id="23" name="Milestone Platform 3.0 migration GA"/>
          <p:cNvSpPr/>
          <p:nvPr/>
        </p:nvSpPr>
        <p:spPr>
          <a:xfrm>
            <a:off x="10298214" y="1975104"/>
            <a:ext cx="256032" cy="256032"/>
          </a:xfrm>
          <a:prstGeom prst="diamond">
            <a:avLst/>
          </a:prstGeom>
          <a:solidFill>
            <a:schemeClr val="tx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877590" y="2249424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GA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25877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Spain market expansion</a:t>
            </a:r>
            <a:endParaRPr lang="en-US" sz="1400" dirty="0"/>
          </a:p>
        </p:txBody>
      </p:sp>
      <p:sp>
        <p:nvSpPr>
          <p:cNvPr id="26" name="Bar Spain market expansion"/>
          <p:cNvSpPr/>
          <p:nvPr/>
        </p:nvSpPr>
        <p:spPr>
          <a:xfrm>
            <a:off x="3337560" y="2660904"/>
            <a:ext cx="4151376" cy="219456"/>
          </a:xfrm>
          <a:prstGeom prst="roundRect">
            <a:avLst>
              <a:gd name="adj" fmla="val 50000"/>
            </a:avLst>
          </a:prstGeom>
          <a:solidFill>
            <a:srgbClr val="3F8F5B">
              <a:alpha val="65000"/>
            </a:srgbClr>
          </a:solidFill>
          <a:ln w="12700">
            <a:solidFill>
              <a:srgbClr val="3F8F5B">
                <a:alpha val="65000"/>
              </a:srgbClr>
            </a:solidFill>
            <a:prstDash val="solid"/>
          </a:ln>
        </p:spPr>
      </p:sp>
      <p:sp>
        <p:nvSpPr>
          <p:cNvPr id="27" name="Milestone Spain market expansion 10 clients"/>
          <p:cNvSpPr/>
          <p:nvPr/>
        </p:nvSpPr>
        <p:spPr>
          <a:xfrm>
            <a:off x="4971921" y="2642616"/>
            <a:ext cx="256032" cy="256032"/>
          </a:xfrm>
          <a:prstGeom prst="diamond">
            <a:avLst/>
          </a:prstGeom>
          <a:solidFill>
            <a:schemeClr val="tx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51297" y="2916936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10 clients</a:t>
            </a:r>
            <a:endParaRPr lang="en-US" sz="1100" dirty="0"/>
          </a:p>
        </p:txBody>
      </p:sp>
      <p:sp>
        <p:nvSpPr>
          <p:cNvPr id="29" name="Milestone Spain market expansion Launch"/>
          <p:cNvSpPr/>
          <p:nvPr/>
        </p:nvSpPr>
        <p:spPr>
          <a:xfrm>
            <a:off x="7360920" y="2642616"/>
            <a:ext cx="256032" cy="256032"/>
          </a:xfrm>
          <a:prstGeom prst="diamond">
            <a:avLst/>
          </a:prstGeom>
          <a:solidFill>
            <a:schemeClr val="tx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940296" y="2916936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Launch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325526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ERP rollout</a:t>
            </a:r>
            <a:endParaRPr lang="en-US" sz="1400" dirty="0"/>
          </a:p>
        </p:txBody>
      </p:sp>
      <p:sp>
        <p:nvSpPr>
          <p:cNvPr id="32" name="Bar ERP rollout"/>
          <p:cNvSpPr/>
          <p:nvPr/>
        </p:nvSpPr>
        <p:spPr>
          <a:xfrm>
            <a:off x="3337560" y="3328416"/>
            <a:ext cx="2349835" cy="219456"/>
          </a:xfrm>
          <a:prstGeom prst="roundRect">
            <a:avLst>
              <a:gd name="adj" fmla="val 50000"/>
            </a:avLst>
          </a:prstGeom>
          <a:solidFill>
            <a:srgbClr val="3F8F5B">
              <a:alpha val="65000"/>
            </a:srgbClr>
          </a:solidFill>
          <a:ln w="12700">
            <a:solidFill>
              <a:srgbClr val="3F8F5B">
                <a:alpha val="65000"/>
              </a:srgbClr>
            </a:solidFill>
            <a:prstDash val="solid"/>
          </a:ln>
        </p:spPr>
      </p:sp>
      <p:sp>
        <p:nvSpPr>
          <p:cNvPr id="33" name="Milestone ERP rollout UAT"/>
          <p:cNvSpPr/>
          <p:nvPr/>
        </p:nvSpPr>
        <p:spPr>
          <a:xfrm>
            <a:off x="4736937" y="3310128"/>
            <a:ext cx="256032" cy="256032"/>
          </a:xfrm>
          <a:prstGeom prst="diamond">
            <a:avLst/>
          </a:prstGeom>
          <a:solidFill>
            <a:schemeClr val="tx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316313" y="3584448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UAT</a:t>
            </a:r>
            <a:endParaRPr lang="en-US" sz="1100" dirty="0"/>
          </a:p>
        </p:txBody>
      </p:sp>
      <p:sp>
        <p:nvSpPr>
          <p:cNvPr id="35" name="Milestone ERP rollout Go-live"/>
          <p:cNvSpPr/>
          <p:nvPr/>
        </p:nvSpPr>
        <p:spPr>
          <a:xfrm>
            <a:off x="5559379" y="3310128"/>
            <a:ext cx="256032" cy="256032"/>
          </a:xfrm>
          <a:prstGeom prst="diamond">
            <a:avLst/>
          </a:prstGeom>
          <a:solidFill>
            <a:schemeClr val="tx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138755" y="3584448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Go-live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392277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AI assistant beta</a:t>
            </a:r>
            <a:endParaRPr lang="en-US" sz="1400" dirty="0"/>
          </a:p>
        </p:txBody>
      </p:sp>
      <p:sp>
        <p:nvSpPr>
          <p:cNvPr id="38" name="Bar AI assistant beta"/>
          <p:cNvSpPr/>
          <p:nvPr/>
        </p:nvSpPr>
        <p:spPr>
          <a:xfrm>
            <a:off x="3337560" y="3995928"/>
            <a:ext cx="2937294" cy="219456"/>
          </a:xfrm>
          <a:prstGeom prst="roundRect">
            <a:avLst>
              <a:gd name="adj" fmla="val 50000"/>
            </a:avLst>
          </a:prstGeom>
          <a:solidFill>
            <a:srgbClr val="B23A3A">
              <a:alpha val="65000"/>
            </a:srgbClr>
          </a:solidFill>
          <a:ln w="12700">
            <a:solidFill>
              <a:srgbClr val="B23A3A">
                <a:alpha val="65000"/>
              </a:srgbClr>
            </a:solidFill>
            <a:prstDash val="solid"/>
          </a:ln>
        </p:spPr>
      </p:sp>
      <p:sp>
        <p:nvSpPr>
          <p:cNvPr id="39" name="Milestone AI assistant beta Vendor"/>
          <p:cNvSpPr/>
          <p:nvPr/>
        </p:nvSpPr>
        <p:spPr>
          <a:xfrm>
            <a:off x="4971921" y="3977640"/>
            <a:ext cx="256032" cy="256032"/>
          </a:xfrm>
          <a:prstGeom prst="diamond">
            <a:avLst/>
          </a:prstGeom>
          <a:solidFill>
            <a:schemeClr val="tx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551297" y="4251960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Vendor</a:t>
            </a:r>
            <a:endParaRPr lang="en-US" sz="1100" dirty="0"/>
          </a:p>
        </p:txBody>
      </p:sp>
      <p:sp>
        <p:nvSpPr>
          <p:cNvPr id="41" name="Milestone AI assistant beta Beta"/>
          <p:cNvSpPr/>
          <p:nvPr/>
        </p:nvSpPr>
        <p:spPr>
          <a:xfrm>
            <a:off x="6146838" y="3977640"/>
            <a:ext cx="256032" cy="256032"/>
          </a:xfrm>
          <a:prstGeom prst="diamond">
            <a:avLst/>
          </a:prstGeom>
          <a:solidFill>
            <a:schemeClr val="tx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726214" y="4251960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Beta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548640" y="459028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SOC 2 Type II</a:t>
            </a:r>
            <a:endParaRPr lang="en-US" sz="1400" dirty="0"/>
          </a:p>
        </p:txBody>
      </p:sp>
      <p:sp>
        <p:nvSpPr>
          <p:cNvPr id="44" name="Bar SOC 2 Type II"/>
          <p:cNvSpPr/>
          <p:nvPr/>
        </p:nvSpPr>
        <p:spPr>
          <a:xfrm>
            <a:off x="3337560" y="4663440"/>
            <a:ext cx="5874589" cy="219456"/>
          </a:xfrm>
          <a:prstGeom prst="roundRect">
            <a:avLst>
              <a:gd name="adj" fmla="val 50000"/>
            </a:avLst>
          </a:prstGeom>
          <a:solidFill>
            <a:srgbClr val="3F8F5B">
              <a:alpha val="65000"/>
            </a:srgbClr>
          </a:solidFill>
          <a:ln w="12700">
            <a:solidFill>
              <a:srgbClr val="3F8F5B">
                <a:alpha val="65000"/>
              </a:srgbClr>
            </a:solidFill>
            <a:prstDash val="solid"/>
          </a:ln>
        </p:spPr>
      </p:sp>
      <p:sp>
        <p:nvSpPr>
          <p:cNvPr id="45" name="Milestone SOC 2 Type II Audit"/>
          <p:cNvSpPr/>
          <p:nvPr/>
        </p:nvSpPr>
        <p:spPr>
          <a:xfrm>
            <a:off x="5598543" y="4645152"/>
            <a:ext cx="256032" cy="256032"/>
          </a:xfrm>
          <a:prstGeom prst="diamond">
            <a:avLst/>
          </a:prstGeom>
          <a:solidFill>
            <a:schemeClr val="tx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177919" y="4919472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Audit</a:t>
            </a:r>
            <a:endParaRPr lang="en-US" sz="1100" dirty="0"/>
          </a:p>
        </p:txBody>
      </p:sp>
      <p:sp>
        <p:nvSpPr>
          <p:cNvPr id="47" name="Milestone SOC 2 Type II Report"/>
          <p:cNvSpPr/>
          <p:nvPr/>
        </p:nvSpPr>
        <p:spPr>
          <a:xfrm>
            <a:off x="9084133" y="4645152"/>
            <a:ext cx="256032" cy="256032"/>
          </a:xfrm>
          <a:prstGeom prst="diamond">
            <a:avLst/>
          </a:prstGeom>
          <a:solidFill>
            <a:schemeClr val="tx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663509" y="4919472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Report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548640" y="5257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Madrid office</a:t>
            </a:r>
            <a:endParaRPr lang="en-US" sz="1400" dirty="0"/>
          </a:p>
        </p:txBody>
      </p:sp>
      <p:sp>
        <p:nvSpPr>
          <p:cNvPr id="50" name="Bar Madrid office"/>
          <p:cNvSpPr/>
          <p:nvPr/>
        </p:nvSpPr>
        <p:spPr>
          <a:xfrm>
            <a:off x="3337560" y="5330952"/>
            <a:ext cx="4777999" cy="219456"/>
          </a:xfrm>
          <a:prstGeom prst="roundRect">
            <a:avLst>
              <a:gd name="adj" fmla="val 50000"/>
            </a:avLst>
          </a:prstGeom>
          <a:solidFill>
            <a:srgbClr val="3F8F5B">
              <a:alpha val="65000"/>
            </a:srgbClr>
          </a:solidFill>
          <a:ln w="12700">
            <a:solidFill>
              <a:srgbClr val="3F8F5B">
                <a:alpha val="65000"/>
              </a:srgbClr>
            </a:solidFill>
            <a:prstDash val="solid"/>
          </a:ln>
        </p:spPr>
      </p:sp>
      <p:sp>
        <p:nvSpPr>
          <p:cNvPr id="51" name="Milestone Madrid office Hiring"/>
          <p:cNvSpPr/>
          <p:nvPr/>
        </p:nvSpPr>
        <p:spPr>
          <a:xfrm>
            <a:off x="6146838" y="5312664"/>
            <a:ext cx="256032" cy="256032"/>
          </a:xfrm>
          <a:prstGeom prst="diamond">
            <a:avLst/>
          </a:prstGeom>
          <a:solidFill>
            <a:schemeClr val="tx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726214" y="5586984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Hiring</a:t>
            </a:r>
            <a:endParaRPr lang="en-US" sz="1100" dirty="0"/>
          </a:p>
        </p:txBody>
      </p:sp>
      <p:sp>
        <p:nvSpPr>
          <p:cNvPr id="53" name="Milestone Madrid office Opening"/>
          <p:cNvSpPr/>
          <p:nvPr/>
        </p:nvSpPr>
        <p:spPr>
          <a:xfrm>
            <a:off x="7987543" y="5312664"/>
            <a:ext cx="256032" cy="256032"/>
          </a:xfrm>
          <a:prstGeom prst="diamond">
            <a:avLst/>
          </a:prstGeom>
          <a:solidFill>
            <a:schemeClr val="tx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566919" y="5586984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Opening</a:t>
            </a:r>
            <a:endParaRPr lang="en-US" sz="1100" dirty="0"/>
          </a:p>
        </p:txBody>
      </p:sp>
      <p:sp>
        <p:nvSpPr>
          <p:cNvPr id="55" name="Today marker"/>
          <p:cNvSpPr/>
          <p:nvPr/>
        </p:nvSpPr>
        <p:spPr>
          <a:xfrm>
            <a:off x="4355822" y="1783080"/>
            <a:ext cx="0" cy="4069080"/>
          </a:xfrm>
          <a:prstGeom prst="line">
            <a:avLst/>
          </a:prstGeom>
          <a:noFill/>
          <a:ln w="22225">
            <a:solidFill>
              <a:srgbClr val="C2703D"/>
            </a:solidFill>
            <a:prstDash val="dash"/>
          </a:ln>
        </p:spPr>
      </p:sp>
      <p:sp>
        <p:nvSpPr>
          <p:cNvPr id="56" name="Text 54"/>
          <p:cNvSpPr txBox="1"/>
          <p:nvPr/>
        </p:nvSpPr>
        <p:spPr>
          <a:xfrm>
            <a:off x="3898622" y="58704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Today</a:t>
            </a:r>
            <a:endParaRPr lang="en-US" sz="1100" dirty="0"/>
          </a:p>
        </p:txBody>
      </p:sp>
      <p:sp>
        <p:nvSpPr>
          <p:cNvPr id="57" name="Legend milestone"/>
          <p:cNvSpPr/>
          <p:nvPr/>
        </p:nvSpPr>
        <p:spPr>
          <a:xfrm>
            <a:off x="8321040" y="5943600"/>
            <a:ext cx="201168" cy="201168"/>
          </a:xfrm>
          <a:prstGeom prst="diamond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8595360" y="59161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Milestone</a:t>
            </a:r>
            <a:endParaRPr lang="en-US" sz="1100" dirty="0"/>
          </a:p>
        </p:txBody>
      </p:sp>
      <p:sp>
        <p:nvSpPr>
          <p:cNvPr id="59" name="Legend green"/>
          <p:cNvSpPr/>
          <p:nvPr/>
        </p:nvSpPr>
        <p:spPr>
          <a:xfrm>
            <a:off x="9464040" y="5961888"/>
            <a:ext cx="274320" cy="164592"/>
          </a:xfrm>
          <a:prstGeom prst="roundRect">
            <a:avLst>
              <a:gd name="adj" fmla="val 50000"/>
            </a:avLst>
          </a:prstGeom>
          <a:solidFill>
            <a:srgbClr val="3F8F5B">
              <a:alpha val="65000"/>
            </a:srgbClr>
          </a:solidFill>
          <a:ln w="12700">
            <a:solidFill>
              <a:srgbClr val="3F8F5B">
                <a:alpha val="65000"/>
              </a:srgbClr>
            </a:solidFill>
            <a:prstDash val="solid"/>
          </a:ln>
        </p:spPr>
      </p:sp>
      <p:sp>
        <p:nvSpPr>
          <p:cNvPr id="60" name="Legend amber"/>
          <p:cNvSpPr/>
          <p:nvPr/>
        </p:nvSpPr>
        <p:spPr>
          <a:xfrm>
            <a:off x="10378440" y="5961888"/>
            <a:ext cx="274320" cy="164592"/>
          </a:xfrm>
          <a:prstGeom prst="roundRect">
            <a:avLst>
              <a:gd name="adj" fmla="val 50000"/>
            </a:avLst>
          </a:prstGeom>
          <a:solidFill>
            <a:srgbClr val="E0A458">
              <a:alpha val="65000"/>
            </a:srgbClr>
          </a:solidFill>
          <a:ln w="12700">
            <a:solidFill>
              <a:srgbClr val="E0A458">
                <a:alpha val="65000"/>
              </a:srgbClr>
            </a:solidFill>
            <a:prstDash val="solid"/>
          </a:ln>
        </p:spPr>
      </p:sp>
      <p:sp>
        <p:nvSpPr>
          <p:cNvPr id="61" name="Legend red"/>
          <p:cNvSpPr/>
          <p:nvPr/>
        </p:nvSpPr>
        <p:spPr>
          <a:xfrm>
            <a:off x="11155680" y="5961888"/>
            <a:ext cx="274320" cy="164592"/>
          </a:xfrm>
          <a:prstGeom prst="roundRect">
            <a:avLst>
              <a:gd name="adj" fmla="val 50000"/>
            </a:avLst>
          </a:prstGeom>
          <a:solidFill>
            <a:srgbClr val="B23A3A">
              <a:alpha val="65000"/>
            </a:srgbClr>
          </a:solidFill>
          <a:ln w="12700">
            <a:solidFill>
              <a:srgbClr val="B23A3A">
                <a:alpha val="65000"/>
              </a:srgbClr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9765792" y="591616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On track</a:t>
            </a:r>
            <a:endParaRPr lang="en-US" sz="1100" dirty="0"/>
          </a:p>
        </p:txBody>
      </p:sp>
      <p:sp>
        <p:nvSpPr>
          <p:cNvPr id="63" name="Text 61"/>
          <p:cNvSpPr txBox="1"/>
          <p:nvPr/>
        </p:nvSpPr>
        <p:spPr>
          <a:xfrm>
            <a:off x="10680192" y="591616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At risk</a:t>
            </a:r>
            <a:endParaRPr lang="en-US" sz="1100" dirty="0"/>
          </a:p>
        </p:txBody>
      </p:sp>
      <p:sp>
        <p:nvSpPr>
          <p:cNvPr id="64" name="Text 62"/>
          <p:cNvSpPr txBox="1"/>
          <p:nvPr/>
        </p:nvSpPr>
        <p:spPr>
          <a:xfrm>
            <a:off x="11457432" y="591616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Late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Spotlight: Platform 3.0 migration</a:t>
            </a:r>
            <a:endParaRPr lang="en-US" sz="3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73152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691640"/>
                <a:gridCol w="1280160"/>
                <a:gridCol w="11430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Milestone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Responsible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Deadline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52C"/>
                          </a:solidFill>
                        </a:rPr>
                        <a:t>M1 · Architecture sign-off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Inês Carvalho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15 Aug 2026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Done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8F5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52C"/>
                          </a:solidFill>
                        </a:rPr>
                        <a:t>M2 · Data migration tooling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Rui Santos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30 Sep 2026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Done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8F5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52C"/>
                          </a:solidFill>
                        </a:rPr>
                        <a:t>M3 · Pilot with 10 customers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Marta Lopes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30 Nov 2026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In progress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A45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52C"/>
                          </a:solidFill>
                        </a:rPr>
                        <a:t>M4 · Performance and security tests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Ana Ribeiro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31 Jan 2027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52C"/>
                          </a:solidFill>
                        </a:rPr>
                        <a:t>Not started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DE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52C"/>
                          </a:solidFill>
                        </a:rPr>
                        <a:t>M5 · General availability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Inês Carvalho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31 Mar 2027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52C"/>
                          </a:solidFill>
                        </a:rPr>
                        <a:t>Not started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DE1"/>
                    </a:solidFill>
                  </a:tcPr>
                </a:tc>
              </a:tr>
            </a:tbl>
          </a:graphicData>
        </a:graphic>
      </p:graphicFrame>
      <p:sp>
        <p:nvSpPr>
          <p:cNvPr id="4" name="Platform scope"/>
          <p:cNvSpPr/>
          <p:nvPr/>
        </p:nvSpPr>
        <p:spPr>
          <a:xfrm>
            <a:off x="548640" y="5029200"/>
            <a:ext cx="731520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5138928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Scope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Move all 1,480 customers to the new multi-tenant platform, cutting hosting cost per customer by 40%.</a:t>
            </a:r>
            <a:endParaRPr lang="en-US" sz="1500" dirty="0"/>
          </a:p>
        </p:txBody>
      </p:sp>
      <p:graphicFrame>
        <p:nvGraphicFramePr>
          <p:cNvPr id="6" name="Platform progress chart" descr=""/>
          <p:cNvGraphicFramePr/>
          <p:nvPr/>
        </p:nvGraphicFramePr>
        <p:xfrm>
          <a:off x="8321040" y="1325880"/>
          <a:ext cx="32918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9052560" y="23774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58%</a:t>
            </a:r>
            <a:endParaRPr lang="en-US" sz="3000" dirty="0"/>
          </a:p>
        </p:txBody>
      </p:sp>
      <p:sp>
        <p:nvSpPr>
          <p:cNvPr id="8" name="Text 4"/>
          <p:cNvSpPr txBox="1"/>
          <p:nvPr/>
        </p:nvSpPr>
        <p:spPr>
          <a:xfrm>
            <a:off x="9052560" y="2880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complete</a:t>
            </a:r>
            <a:endParaRPr lang="en-US" sz="1300" dirty="0"/>
          </a:p>
        </p:txBody>
      </p:sp>
      <p:sp>
        <p:nvSpPr>
          <p:cNvPr id="9" name="Platform budget"/>
          <p:cNvSpPr/>
          <p:nvPr/>
        </p:nvSpPr>
        <p:spPr>
          <a:xfrm>
            <a:off x="8321040" y="4297680"/>
            <a:ext cx="3319272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595360" y="449884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€1.3M of €2.4M</a:t>
            </a:r>
            <a:endParaRPr lang="en-US" sz="2400" dirty="0"/>
          </a:p>
        </p:txBody>
      </p:sp>
      <p:sp>
        <p:nvSpPr>
          <p:cNvPr id="11" name="Text 7"/>
          <p:cNvSpPr txBox="1"/>
          <p:nvPr/>
        </p:nvSpPr>
        <p:spPr>
          <a:xfrm>
            <a:off x="8595360" y="50292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budget spent (54%), in line with progress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595360" y="5669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Status: at risk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risks and who owns them</a:t>
            </a:r>
            <a:endParaRPr lang="en-US" sz="3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063240"/>
                <a:gridCol w="1005840"/>
                <a:gridCol w="1143000"/>
                <a:gridCol w="1691640"/>
                <a:gridCol w="3730752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Impact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Likelihood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Mitigation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52C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52C"/>
                          </a:solidFill>
                        </a:rPr>
                        <a:t>AI model vendor keeps slipping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High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3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Medium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A4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Tomás Ferreira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Evaluate a second vendor in parallel; decide by 15 Nov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52C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52C"/>
                          </a:solidFill>
                        </a:rPr>
                        <a:t>Pilot data quality for Platform 3.0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High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3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Medium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A4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Inês Carvalho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Extra validation sprint before the pilot starts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52C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52C"/>
                          </a:solidFill>
                        </a:rPr>
                        <a:t>Senior engineering hiring in Madrid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Medium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A4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High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3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Pablo Ruiz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Specialist agency plus a doubled referral bonus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52C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52C"/>
                          </a:solidFill>
                        </a:rPr>
                        <a:t>FX exposure on Argentine revenue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Medium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A4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Medium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A4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Laura Gómez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Monthly hedging review; price new deals in USD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52C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52C"/>
                          </a:solidFill>
                        </a:rPr>
                        <a:t>Top 5 customers are 22% of revenue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Medium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A4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Low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8F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Diego Martín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2C"/>
                          </a:solidFill>
                        </a:rPr>
                        <a:t>Mid-market push in Spain to broaden the base</a:t>
                      </a:r>
                      <a:endParaRPr lang="en-US" sz="1300" dirty="0"/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Reviewed monthly by the executive team; owners report changes at each all-hands.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rb ring 1"/>
          <p:cNvSpPr/>
          <p:nvPr/>
        </p:nvSpPr>
        <p:spPr>
          <a:xfrm>
            <a:off x="6400800" y="137160"/>
            <a:ext cx="6583680" cy="6583680"/>
          </a:xfrm>
          <a:prstGeom prst="ellipse">
            <a:avLst/>
          </a:prstGeom>
          <a:solidFill>
            <a:srgbClr val="1E2A32"/>
          </a:solidFill>
          <a:ln w="15875">
            <a:solidFill>
              <a:srgbClr val="3D7C8C">
                <a:alpha val="80000"/>
              </a:srgbClr>
            </a:solidFill>
            <a:prstDash val="solid"/>
          </a:ln>
        </p:spPr>
      </p:sp>
      <p:sp>
        <p:nvSpPr>
          <p:cNvPr id="3" name="Orb ring 2"/>
          <p:cNvSpPr/>
          <p:nvPr/>
        </p:nvSpPr>
        <p:spPr>
          <a:xfrm>
            <a:off x="7223760" y="960120"/>
            <a:ext cx="4937760" cy="4937760"/>
          </a:xfrm>
          <a:prstGeom prst="ellipse">
            <a:avLst/>
          </a:prstGeom>
          <a:solidFill>
            <a:srgbClr val="1E2A32"/>
          </a:solidFill>
          <a:ln w="15875">
            <a:solidFill>
              <a:srgbClr val="3D7C8C">
                <a:alpha val="65000"/>
              </a:srgbClr>
            </a:solidFill>
            <a:prstDash val="solid"/>
          </a:ln>
        </p:spPr>
      </p:sp>
      <p:sp>
        <p:nvSpPr>
          <p:cNvPr id="4" name="Orb ring 3"/>
          <p:cNvSpPr/>
          <p:nvPr/>
        </p:nvSpPr>
        <p:spPr>
          <a:xfrm>
            <a:off x="8046720" y="1783080"/>
            <a:ext cx="3291840" cy="3291840"/>
          </a:xfrm>
          <a:prstGeom prst="ellipse">
            <a:avLst/>
          </a:prstGeom>
          <a:solidFill>
            <a:srgbClr val="1E2A32"/>
          </a:solidFill>
          <a:ln w="15875">
            <a:solidFill>
              <a:srgbClr val="3D7C8C">
                <a:alpha val="50000"/>
              </a:srgbClr>
            </a:solidFill>
            <a:prstDash val="solid"/>
          </a:ln>
        </p:spPr>
      </p:sp>
      <p:sp>
        <p:nvSpPr>
          <p:cNvPr id="5" name="Orb core"/>
          <p:cNvSpPr/>
          <p:nvPr/>
        </p:nvSpPr>
        <p:spPr>
          <a:xfrm>
            <a:off x="9189720" y="2926080"/>
            <a:ext cx="1005840" cy="1005840"/>
          </a:xfrm>
          <a:prstGeom prst="ellipse">
            <a:avLst/>
          </a:prstGeom>
          <a:solidFill>
            <a:srgbClr val="C2703D"/>
          </a:solidFill>
          <a:ln w="12700">
            <a:solidFill>
              <a:srgbClr val="C2703D"/>
            </a:solidFill>
            <a:prstDash val="solid"/>
          </a:ln>
        </p:spPr>
      </p:sp>
      <p:sp>
        <p:nvSpPr>
          <p:cNvPr id="6" name="Orb satellite 1"/>
          <p:cNvSpPr/>
          <p:nvPr/>
        </p:nvSpPr>
        <p:spPr>
          <a:xfrm>
            <a:off x="11292840" y="1463040"/>
            <a:ext cx="320040" cy="320040"/>
          </a:xfrm>
          <a:prstGeom prst="ellipse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7" name="Orb satellite 2"/>
          <p:cNvSpPr/>
          <p:nvPr/>
        </p:nvSpPr>
        <p:spPr>
          <a:xfrm>
            <a:off x="6995160" y="4709160"/>
            <a:ext cx="228600" cy="228600"/>
          </a:xfrm>
          <a:prstGeom prst="ellipse">
            <a:avLst/>
          </a:prstGeom>
          <a:solidFill>
            <a:srgbClr val="9DB4BC"/>
          </a:solidFill>
          <a:ln w="12700">
            <a:solidFill>
              <a:srgbClr val="9DB4B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18872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0" dirty="0"/>
          </a:p>
        </p:txBody>
      </p:sp>
      <p:sp>
        <p:nvSpPr>
          <p:cNvPr id="9" name="Text 0"/>
          <p:cNvSpPr/>
          <p:nvPr>
            <p:ph idx="100" type="title" hasCustomPrompt="1"/>
          </p:nvPr>
        </p:nvSpPr>
        <p:spPr>
          <a:xfrm>
            <a:off x="731520" y="3063240"/>
            <a:ext cx="6766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 updates</a:t>
            </a:r>
            <a:endParaRPr lang="en-US" sz="4000" dirty="0"/>
          </a:p>
        </p:txBody>
      </p:sp>
      <p:sp>
        <p:nvSpPr>
          <p:cNvPr id="10" name="Text 0"/>
          <p:cNvSpPr/>
          <p:nvPr>
            <p:ph idx="101" type="body" hasCustomPrompt="1"/>
          </p:nvPr>
        </p:nvSpPr>
        <p:spPr>
          <a:xfrm>
            <a:off x="731520" y="402336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Acquisition, offices, leadership, people and customers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Major company updates</a:t>
            </a:r>
            <a:endParaRPr lang="en-US" sz="3600" dirty="0"/>
          </a:p>
        </p:txBody>
      </p:sp>
      <p:sp>
        <p:nvSpPr>
          <p:cNvPr id="3" name="Update card Datanube acquisition closed"/>
          <p:cNvSpPr/>
          <p:nvPr/>
        </p:nvSpPr>
        <p:spPr>
          <a:xfrm>
            <a:off x="548640" y="1417320"/>
            <a:ext cx="5408676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Update Datanube acquisition closed circle"/>
          <p:cNvSpPr/>
          <p:nvPr/>
        </p:nvSpPr>
        <p:spPr>
          <a:xfrm>
            <a:off x="822960" y="1691640"/>
            <a:ext cx="685800" cy="685800"/>
          </a:xfrm>
          <a:prstGeom prst="ellipse">
            <a:avLst/>
          </a:prstGeom>
          <a:solidFill>
            <a:srgbClr val="C2703D"/>
          </a:solidFill>
          <a:ln w="12700">
            <a:solidFill>
              <a:srgbClr val="C2703D"/>
            </a:solidFill>
            <a:prstDash val="solid"/>
          </a:ln>
        </p:spPr>
      </p:sp>
      <p:pic>
        <p:nvPicPr>
          <p:cNvPr id="5" name="Update Datanube acquisition closed icon" descr="Update Datanube acquisition clos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186309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69164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Datanube acquisition closed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1737360" y="209397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2 September 2026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060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All-stock deal adds a 22-person analytics team and AI forecasting technology for Platform 3.0.</a:t>
            </a:r>
            <a:endParaRPr lang="en-US" sz="1500" dirty="0"/>
          </a:p>
        </p:txBody>
      </p:sp>
      <p:sp>
        <p:nvSpPr>
          <p:cNvPr id="9" name="Update card Madrid office opens in January"/>
          <p:cNvSpPr/>
          <p:nvPr/>
        </p:nvSpPr>
        <p:spPr>
          <a:xfrm>
            <a:off x="6231636" y="1417320"/>
            <a:ext cx="5408676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Update Madrid office opens in January circle"/>
          <p:cNvSpPr/>
          <p:nvPr/>
        </p:nvSpPr>
        <p:spPr>
          <a:xfrm>
            <a:off x="6505956" y="1691640"/>
            <a:ext cx="685800" cy="685800"/>
          </a:xfrm>
          <a:prstGeom prst="ellipse">
            <a:avLst/>
          </a:prstGeom>
          <a:solidFill>
            <a:srgbClr val="3D7C8C"/>
          </a:solidFill>
          <a:ln w="12700">
            <a:solidFill>
              <a:srgbClr val="3D7C8C"/>
            </a:solidFill>
            <a:prstDash val="solid"/>
          </a:ln>
        </p:spPr>
      </p:sp>
      <p:pic>
        <p:nvPicPr>
          <p:cNvPr id="11" name="Update Madrid office opens in January icon" descr="Update Madrid office opens in Januar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7406" y="1863090"/>
            <a:ext cx="342900" cy="3429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20356" y="169164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Madrid office opens in January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7420356" y="209397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31 January 2027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505956" y="26060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Our hub for Spain growth, with room for 80 people; 25 roles to hire from December.</a:t>
            </a:r>
            <a:endParaRPr lang="en-US" sz="1500" dirty="0"/>
          </a:p>
        </p:txBody>
      </p:sp>
      <p:sp>
        <p:nvSpPr>
          <p:cNvPr id="15" name="Update card New CFO: Laura Gómez"/>
          <p:cNvSpPr/>
          <p:nvPr/>
        </p:nvSpPr>
        <p:spPr>
          <a:xfrm>
            <a:off x="548640" y="3840480"/>
            <a:ext cx="5408676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Update New CFO: Laura Gómez circle"/>
          <p:cNvSpPr/>
          <p:nvPr/>
        </p:nvSpPr>
        <p:spPr>
          <a:xfrm>
            <a:off x="822960" y="4114800"/>
            <a:ext cx="685800" cy="685800"/>
          </a:xfrm>
          <a:prstGeom prst="ellipse">
            <a:avLst/>
          </a:prstGeom>
          <a:solidFill>
            <a:srgbClr val="3D7C8C"/>
          </a:solidFill>
          <a:ln w="12700">
            <a:solidFill>
              <a:srgbClr val="3D7C8C"/>
            </a:solidFill>
            <a:prstDash val="solid"/>
          </a:ln>
        </p:spPr>
      </p:sp>
      <p:pic>
        <p:nvPicPr>
          <p:cNvPr id="17" name="Update New CFO: Laura Gómez icon" descr="Update New CFO: Laura Gómez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410" y="4286250"/>
            <a:ext cx="342900" cy="3429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737360" y="411480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New CFO: Laura Gómez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1737360" y="451713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Joined July 2026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822960" y="50292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Former SaaS finance director; leads the ERP rollout and the FY2027 budget.</a:t>
            </a:r>
            <a:endParaRPr lang="en-US" sz="1500" dirty="0"/>
          </a:p>
        </p:txBody>
      </p:sp>
      <p:sp>
        <p:nvSpPr>
          <p:cNvPr id="21" name="Update card Argentina reseller agreement"/>
          <p:cNvSpPr/>
          <p:nvPr/>
        </p:nvSpPr>
        <p:spPr>
          <a:xfrm>
            <a:off x="6231636" y="3840480"/>
            <a:ext cx="5408676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Update Argentina reseller agreement circle"/>
          <p:cNvSpPr/>
          <p:nvPr/>
        </p:nvSpPr>
        <p:spPr>
          <a:xfrm>
            <a:off x="6505956" y="4114800"/>
            <a:ext cx="685800" cy="685800"/>
          </a:xfrm>
          <a:prstGeom prst="ellipse">
            <a:avLst/>
          </a:prstGeom>
          <a:solidFill>
            <a:srgbClr val="C2703D"/>
          </a:solidFill>
          <a:ln w="12700">
            <a:solidFill>
              <a:srgbClr val="C2703D"/>
            </a:solidFill>
            <a:prstDash val="solid"/>
          </a:ln>
        </p:spPr>
      </p:sp>
      <p:pic>
        <p:nvPicPr>
          <p:cNvPr id="23" name="Update Argentina reseller agreement icon" descr="Update Argentina reseller agreemen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7406" y="4286250"/>
            <a:ext cx="342900" cy="3429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420356" y="411480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Argentina reseller agreement</a:t>
            </a:r>
            <a:endParaRPr lang="en-US" sz="1900" dirty="0"/>
          </a:p>
        </p:txBody>
      </p:sp>
      <p:sp>
        <p:nvSpPr>
          <p:cNvPr id="25" name="Text 19"/>
          <p:cNvSpPr txBox="1"/>
          <p:nvPr/>
        </p:nvSpPr>
        <p:spPr>
          <a:xfrm>
            <a:off x="7420356" y="451713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Signed October 2026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6505956" y="50292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Three-year deal covering Buenos Aires and Córdoba; first revenue expected in Q1 2027.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grew 22% to 344 people</a:t>
            </a:r>
            <a:endParaRPr lang="en-US" sz="3600" dirty="0"/>
          </a:p>
        </p:txBody>
      </p:sp>
      <p:graphicFrame>
        <p:nvGraphicFramePr>
          <p:cNvPr id="3" name="Headcount chart" descr=""/>
          <p:cNvGraphicFramePr/>
          <p:nvPr/>
        </p:nvGraphicFramePr>
        <p:xfrm>
          <a:off x="548640" y="1371600"/>
          <a:ext cx="7498080" cy="4800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People stat 1"/>
          <p:cNvSpPr/>
          <p:nvPr/>
        </p:nvSpPr>
        <p:spPr>
          <a:xfrm>
            <a:off x="8366760" y="1463040"/>
            <a:ext cx="3273552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641080" y="162763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344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8641080" y="22677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people, +63 year over year</a:t>
            </a:r>
            <a:endParaRPr lang="en-US" sz="1400" dirty="0"/>
          </a:p>
        </p:txBody>
      </p:sp>
      <p:sp>
        <p:nvSpPr>
          <p:cNvPr id="7" name="People stat 2"/>
          <p:cNvSpPr/>
          <p:nvPr/>
        </p:nvSpPr>
        <p:spPr>
          <a:xfrm>
            <a:off x="8366760" y="3063240"/>
            <a:ext cx="3273552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41080" y="322783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+38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8641080" y="38679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employee NPS, up 6 points on Q2</a:t>
            </a:r>
            <a:endParaRPr lang="en-US" sz="1400" dirty="0"/>
          </a:p>
        </p:txBody>
      </p:sp>
      <p:sp>
        <p:nvSpPr>
          <p:cNvPr id="10" name="People stat 3"/>
          <p:cNvSpPr/>
          <p:nvPr/>
        </p:nvSpPr>
        <p:spPr>
          <a:xfrm>
            <a:off x="8366760" y="4663440"/>
            <a:ext cx="3273552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41080" y="482803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9.4%</a:t>
            </a:r>
            <a:endParaRPr lang="en-US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8641080" y="54681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annualized attrition, below 12% target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Customers: growth with healthy retention</a:t>
            </a:r>
            <a:endParaRPr lang="en-US" sz="3600" dirty="0"/>
          </a:p>
        </p:txBody>
      </p:sp>
      <p:graphicFrame>
        <p:nvGraphicFramePr>
          <p:cNvPr id="3" name="Customers chart" descr=""/>
          <p:cNvGraphicFramePr/>
          <p:nvPr/>
        </p:nvGraphicFramePr>
        <p:xfrm>
          <a:off x="548640" y="1371600"/>
          <a:ext cx="6309360" cy="4800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ustomer stat subscription ARR"/>
          <p:cNvSpPr/>
          <p:nvPr/>
        </p:nvSpPr>
        <p:spPr>
          <a:xfrm>
            <a:off x="7178040" y="1463040"/>
            <a:ext cx="2176272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406640" y="18745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€45.6M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7406640" y="26060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subscription ARR</a:t>
            </a:r>
            <a:endParaRPr lang="en-US" sz="1400" dirty="0"/>
          </a:p>
        </p:txBody>
      </p:sp>
      <p:sp>
        <p:nvSpPr>
          <p:cNvPr id="7" name="Customer stat net revenue retention"/>
          <p:cNvSpPr/>
          <p:nvPr/>
        </p:nvSpPr>
        <p:spPr>
          <a:xfrm>
            <a:off x="9464040" y="1463040"/>
            <a:ext cx="2176272" cy="2148840"/>
          </a:xfrm>
          <a:prstGeom prst="roundRect">
            <a:avLst>
              <a:gd name="adj" fmla="val 340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692640" y="18745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118%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9692640" y="26060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net revenue retention</a:t>
            </a:r>
            <a:endParaRPr lang="en-US" sz="1400" dirty="0"/>
          </a:p>
        </p:txBody>
      </p:sp>
      <p:sp>
        <p:nvSpPr>
          <p:cNvPr id="10" name="Customer stat quarterly logo churn"/>
          <p:cNvSpPr/>
          <p:nvPr/>
        </p:nvSpPr>
        <p:spPr>
          <a:xfrm>
            <a:off x="7178040" y="3840480"/>
            <a:ext cx="2176272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06640" y="42519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1.2%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7406640" y="498348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quarterly logo churn</a:t>
            </a:r>
            <a:endParaRPr lang="en-US" sz="1400" dirty="0"/>
          </a:p>
        </p:txBody>
      </p:sp>
      <p:sp>
        <p:nvSpPr>
          <p:cNvPr id="13" name="Customer stat new customers in Q3"/>
          <p:cNvSpPr/>
          <p:nvPr/>
        </p:nvSpPr>
        <p:spPr>
          <a:xfrm>
            <a:off x="9464040" y="3840480"/>
            <a:ext cx="2176272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692640" y="42519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102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9692640" y="498348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new customers in Q3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 outlook and decisions needed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chemeClr val="accent1"/>
                </a:solidFill>
              </a:rPr>
              <a:t>Q4 2026 GUIDANCE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€16.0–16.4M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6090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Q4 revenue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33756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€2.5–2.8M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03250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Q4 EBITDA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70916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€58.5M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40410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FY2026 revenue, +32% on FY2025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989320" y="1463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chemeClr val="accent1"/>
                </a:solidFill>
              </a:rPr>
              <a:t>DECISIONS NEEDED TODAY</a:t>
            </a:r>
            <a:endParaRPr lang="en-US" sz="1500" dirty="0"/>
          </a:p>
        </p:txBody>
      </p:sp>
      <p:sp>
        <p:nvSpPr>
          <p:cNvPr id="11" name="Decision 1"/>
          <p:cNvSpPr/>
          <p:nvPr/>
        </p:nvSpPr>
        <p:spPr>
          <a:xfrm>
            <a:off x="5989320" y="1965960"/>
            <a:ext cx="5650992" cy="1143000"/>
          </a:xfrm>
          <a:prstGeom prst="roundRect">
            <a:avLst>
              <a:gd name="adj" fmla="val 6400"/>
            </a:avLst>
          </a:prstGeom>
          <a:solidFill>
            <a:schemeClr val="bg1">
              <a:alpha val="10000"/>
            </a:schemeClr>
          </a:solidFill>
          <a:ln w="12700">
            <a:solidFill>
              <a:srgbClr val="3D7C8C"/>
            </a:solidFill>
            <a:prstDash val="solid"/>
          </a:ln>
        </p:spPr>
      </p:sp>
      <p:sp>
        <p:nvSpPr>
          <p:cNvPr id="12" name="Decision number 1"/>
          <p:cNvSpPr/>
          <p:nvPr/>
        </p:nvSpPr>
        <p:spPr>
          <a:xfrm>
            <a:off x="6217920" y="22402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2240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040880" y="2167128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Approve the AI assistant vendor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040880" y="260604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Tomás Ferreira · by 15 November</a:t>
            </a:r>
            <a:endParaRPr lang="en-US" sz="1400" dirty="0"/>
          </a:p>
        </p:txBody>
      </p:sp>
      <p:sp>
        <p:nvSpPr>
          <p:cNvPr id="16" name="Decision 2"/>
          <p:cNvSpPr/>
          <p:nvPr/>
        </p:nvSpPr>
        <p:spPr>
          <a:xfrm>
            <a:off x="5989320" y="3337560"/>
            <a:ext cx="5650992" cy="1143000"/>
          </a:xfrm>
          <a:prstGeom prst="roundRect">
            <a:avLst>
              <a:gd name="adj" fmla="val 6400"/>
            </a:avLst>
          </a:prstGeom>
          <a:solidFill>
            <a:schemeClr val="bg1">
              <a:alpha val="10000"/>
            </a:schemeClr>
          </a:solidFill>
          <a:ln w="12700">
            <a:solidFill>
              <a:srgbClr val="3D7C8C"/>
            </a:solidFill>
            <a:prstDash val="solid"/>
          </a:ln>
        </p:spPr>
      </p:sp>
      <p:sp>
        <p:nvSpPr>
          <p:cNvPr id="17" name="Decision number 2"/>
          <p:cNvSpPr/>
          <p:nvPr/>
        </p:nvSpPr>
        <p:spPr>
          <a:xfrm>
            <a:off x="6217920" y="36118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17920" y="3611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040880" y="3538728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Approve the Madrid hiring plan (25 roles)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040880" y="397764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Pablo Ruiz · by 30 November</a:t>
            </a:r>
            <a:endParaRPr lang="en-US" sz="1400" dirty="0"/>
          </a:p>
        </p:txBody>
      </p:sp>
      <p:sp>
        <p:nvSpPr>
          <p:cNvPr id="21" name="Decision 3"/>
          <p:cNvSpPr/>
          <p:nvPr/>
        </p:nvSpPr>
        <p:spPr>
          <a:xfrm>
            <a:off x="5989320" y="4709160"/>
            <a:ext cx="5650992" cy="1143000"/>
          </a:xfrm>
          <a:prstGeom prst="roundRect">
            <a:avLst>
              <a:gd name="adj" fmla="val 6400"/>
            </a:avLst>
          </a:prstGeom>
          <a:solidFill>
            <a:schemeClr val="bg1">
              <a:alpha val="10000"/>
            </a:schemeClr>
          </a:solidFill>
          <a:ln w="12700">
            <a:solidFill>
              <a:srgbClr val="3D7C8C"/>
            </a:solidFill>
            <a:prstDash val="solid"/>
          </a:ln>
        </p:spPr>
      </p:sp>
      <p:sp>
        <p:nvSpPr>
          <p:cNvPr id="22" name="Decision number 3"/>
          <p:cNvSpPr/>
          <p:nvPr/>
        </p:nvSpPr>
        <p:spPr>
          <a:xfrm>
            <a:off x="6217920" y="49834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17920" y="4983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4910328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Launch the FY2027 budget process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040880" y="534924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Laura Gómez · kickoff 4 November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B4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elora Graphite Copper">
  <a:themeElements>
    <a:clrScheme name="Velora Graphite Copper">
      <a:dk1>
        <a:srgbClr val="1B252C"/>
      </a:dk1>
      <a:lt1>
        <a:srgbClr val="FFFFFF"/>
      </a:lt1>
      <a:dk2>
        <a:srgbClr val="1E2A32"/>
      </a:dk2>
      <a:lt2>
        <a:srgbClr val="EEF2F4"/>
      </a:lt2>
      <a:accent1>
        <a:srgbClr val="C2703D"/>
      </a:accent1>
      <a:accent2>
        <a:srgbClr val="3D7C8C"/>
      </a:accent2>
      <a:accent3>
        <a:srgbClr val="9DB4BC"/>
      </a:accent3>
      <a:accent4>
        <a:srgbClr val="E0A458"/>
      </a:accent4>
      <a:accent5>
        <a:srgbClr val="6B7A86"/>
      </a:accent5>
      <a:accent6>
        <a:srgbClr val="3F8F5B"/>
      </a:accent6>
      <a:hlink>
        <a:srgbClr val="3D7C8C"/>
      </a:hlink>
      <a:folHlink>
        <a:srgbClr val="6B7A86"/>
      </a:folHlink>
    </a:clrScheme>
    <a:fontScheme name="Velora Graphite Copp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Velora 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Velora Systems — Q3 2026 Quarterly Business Review</dc:title>
  <dc:subject>PptxGenJS Presentation</dc:subject>
  <dc:creator>Velora Systems (fictional)</dc:creator>
  <cp:lastModifiedBy>Velora Systems (fictional)</cp:lastModifiedBy>
  <cp:revision>1</cp:revision>
  <dcterms:created xsi:type="dcterms:W3CDTF">2026-10-27T16:59:08Z</dcterms:created>
  <dcterms:modified xsi:type="dcterms:W3CDTF">2026-10-27T16:59:08Z</dcterms:modified>
</cp:coreProperties>
</file>