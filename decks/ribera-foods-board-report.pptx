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Net sales €k</c:v>
                </c:pt>
              </c:strCache>
            </c:strRef>
          </c:tx>
          <c:spPr>
            <a:solidFill>
              <a:srgbClr val="8a9a3b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11900</c:v>
                </c:pt>
                <c:pt idx="1">
                  <c:v>11700</c:v>
                </c:pt>
                <c:pt idx="2">
                  <c:v>12400</c:v>
                </c:pt>
                <c:pt idx="3">
                  <c:v>12100</c:v>
                </c:pt>
                <c:pt idx="4">
                  <c:v>12600</c:v>
                </c:pt>
                <c:pt idx="5">
                  <c:v>12700</c:v>
                </c:pt>
                <c:pt idx="6">
                  <c:v>12500</c:v>
                </c:pt>
                <c:pt idx="7">
                  <c:v>12300</c:v>
                </c:pt>
                <c:pt idx="8">
                  <c:v>13620</c:v>
                </c:pt>
              </c:numCache>
            </c:numRef>
          </c:val>
        </c:ser>
        <c:gapWidth val="60"/>
        <c:overlap val="0"/>
        <c:axId val="51688902"/>
        <c:axId val="27659460"/>
      </c:barChart>
      <c:lineChart>
        <c:grouping val="standard"/>
        <c:varyColors val="0"/>
        <c:ser>
          <c:idx val="1"/>
          <c:order val="1"/>
          <c:tx>
            <c:strRef>
              <c:f>label 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b23a3a"/>
            </a:solidFill>
            <a:ln w="38160">
              <a:solidFill>
                <a:srgbClr val="b23a3a"/>
              </a:solidFill>
              <a:round/>
            </a:ln>
          </c:spPr>
          <c:marker>
            <c:symbol val="circle"/>
            <c:size val="6"/>
            <c:spPr>
              <a:solidFill>
                <a:srgbClr val="b23a3a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9"/>
                <c:pt idx="0">
                  <c:v>33.1</c:v>
                </c:pt>
                <c:pt idx="1">
                  <c:v>32.4</c:v>
                </c:pt>
                <c:pt idx="2">
                  <c:v>31</c:v>
                </c:pt>
                <c:pt idx="3">
                  <c:v>30.2</c:v>
                </c:pt>
                <c:pt idx="4">
                  <c:v>30.9</c:v>
                </c:pt>
                <c:pt idx="5">
                  <c:v>31.5</c:v>
                </c:pt>
                <c:pt idx="6">
                  <c:v>31.8</c:v>
                </c:pt>
                <c:pt idx="7">
                  <c:v>31.9</c:v>
                </c:pt>
                <c:pt idx="8">
                  <c:v>33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641102"/>
        <c:axId val="81244382"/>
      </c:lineChart>
      <c:catAx>
        <c:axId val="5168890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27659460"/>
        <c:crosses val="autoZero"/>
        <c:auto val="1"/>
        <c:lblAlgn val="ctr"/>
        <c:lblOffset val="100"/>
        <c:noMultiLvlLbl val="0"/>
      </c:catAx>
      <c:valAx>
        <c:axId val="27659460"/>
        <c:scaling>
          <c:orientation val="minMax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1000" spc="-1" strike="noStrike">
                    <a:solidFill>
                      <a:srgbClr val="000000"/>
                    </a:solidFill>
                    <a:latin typeface="Arial"/>
                  </a:rPr>
                  <a:t>€k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51688902"/>
        <c:crosses val="autoZero"/>
        <c:crossBetween val="between"/>
      </c:valAx>
      <c:catAx>
        <c:axId val="3641102"/>
        <c:scaling>
          <c:orientation val="minMax"/>
        </c:scaling>
        <c:delete val="1"/>
        <c:axPos val="t"/>
        <c:numFmt formatCode="[$-409]mm/dd/yyyy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81244382"/>
        <c:auto val="1"/>
        <c:lblAlgn val="ctr"/>
        <c:lblOffset val="100"/>
        <c:noMultiLvlLbl val="0"/>
      </c:catAx>
      <c:valAx>
        <c:axId val="81244382"/>
        <c:scaling>
          <c:orientation val="minMax"/>
          <c:max val="35"/>
          <c:min val="25"/>
        </c:scaling>
        <c:delete val="0"/>
        <c:axPos val="r"/>
        <c:title>
          <c:tx>
            <c:rich>
              <a:bodyPr rot="-5400000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1000" spc="-1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3641102"/>
        <c:crosses val="max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Raw materials</c:v>
                </c:pt>
              </c:strCache>
            </c:strRef>
          </c:tx>
          <c:spPr>
            <a:solidFill>
              <a:srgbClr val="2e5e3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52</c:v>
                </c:pt>
                <c:pt idx="1">
                  <c:v>55</c:v>
                </c:pt>
                <c:pt idx="2">
                  <c:v>56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Packaging</c:v>
                </c:pt>
              </c:strCache>
            </c:strRef>
          </c:tx>
          <c:spPr>
            <a:solidFill>
              <a:srgbClr val="8a9a3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Labour</c:v>
                </c:pt>
              </c:strCache>
            </c:strRef>
          </c:tx>
          <c:spPr>
            <a:solidFill>
              <a:srgbClr val="e9c46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19</c:v>
                </c:pt>
                <c:pt idx="1">
                  <c:v>18</c:v>
                </c:pt>
                <c:pt idx="2">
                  <c:v>18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a3b18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3"/>
                <c:pt idx="0">
                  <c:v>15</c:v>
                </c:pt>
                <c:pt idx="1">
                  <c:v>14</c:v>
                </c:pt>
                <c:pt idx="2">
                  <c:v>13</c:v>
                </c:pt>
              </c:numCache>
            </c:numRef>
          </c:val>
        </c:ser>
        <c:gapWidth val="50"/>
        <c:overlap val="100"/>
        <c:axId val="86721715"/>
        <c:axId val="89379003"/>
      </c:barChart>
      <c:catAx>
        <c:axId val="8672171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89379003"/>
        <c:crosses val="autoZero"/>
        <c:auto val="1"/>
        <c:lblAlgn val="ctr"/>
        <c:lblOffset val="100"/>
        <c:noMultiLvlLbl val="0"/>
      </c:catAx>
      <c:valAx>
        <c:axId val="89379003"/>
        <c:scaling>
          <c:orientation val="minMax"/>
        </c:scaling>
        <c:delete val="1"/>
        <c:axPos val="l"/>
        <c:numFmt formatCode="[$-409]0%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86721715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2e5e3a"/>
            </a:solidFill>
            <a:ln w="19080">
              <a:noFill/>
            </a:ln>
          </c:spPr>
          <c:marker>
            <c:symbol val="circle"/>
            <c:size val="10"/>
            <c:spPr>
              <a:solidFill>
                <a:srgbClr val="2e5e3a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12"/>
                <c:pt idx="0">
                  <c:v>12</c:v>
                </c:pt>
                <c:pt idx="1">
                  <c:v>45</c:v>
                </c:pt>
                <c:pt idx="2">
                  <c:v>80</c:v>
                </c:pt>
                <c:pt idx="3">
                  <c:v>140</c:v>
                </c:pt>
                <c:pt idx="4">
                  <c:v>22</c:v>
                </c:pt>
                <c:pt idx="5">
                  <c:v>95</c:v>
                </c:pt>
                <c:pt idx="6">
                  <c:v>160</c:v>
                </c:pt>
                <c:pt idx="7">
                  <c:v>30</c:v>
                </c:pt>
                <c:pt idx="8">
                  <c:v>60</c:v>
                </c:pt>
                <c:pt idx="9">
                  <c:v>210</c:v>
                </c:pt>
                <c:pt idx="10">
                  <c:v>8</c:v>
                </c:pt>
                <c:pt idx="11">
                  <c:v>18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12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36</c:v>
                </c:pt>
                <c:pt idx="4">
                  <c:v>11</c:v>
                </c:pt>
                <c:pt idx="5">
                  <c:v>28</c:v>
                </c:pt>
                <c:pt idx="6">
                  <c:v>38</c:v>
                </c:pt>
                <c:pt idx="7">
                  <c:v>19</c:v>
                </c:pt>
                <c:pt idx="8">
                  <c:v>27</c:v>
                </c:pt>
                <c:pt idx="9">
                  <c:v>41</c:v>
                </c:pt>
                <c:pt idx="10">
                  <c:v>9</c:v>
                </c:pt>
                <c:pt idx="11">
                  <c:v>16</c:v>
                </c:pt>
              </c:numCache>
            </c:numRef>
          </c:yVal>
          <c:smooth val="0"/>
        </c:ser>
        <c:axId val="79472578"/>
        <c:axId val="15479078"/>
      </c:scatterChart>
      <c:valAx>
        <c:axId val="79472578"/>
        <c:scaling>
          <c:orientation val="minMax"/>
        </c:scaling>
        <c:delete val="0"/>
        <c:axPos val="b"/>
        <c:majorGridlines>
          <c:spPr>
            <a:ln w="12600">
              <a:solidFill>
                <a:srgbClr val="d9d9d9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1000" spc="-1" strike="noStrike">
                    <a:solidFill>
                      <a:srgbClr val="000000"/>
                    </a:solidFill>
                    <a:latin typeface="Arial"/>
                  </a:rPr>
                  <a:t>Volume, thousand units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15479078"/>
        <c:crosses val="autoZero"/>
        <c:crossBetween val="midCat"/>
      </c:valAx>
      <c:valAx>
        <c:axId val="15479078"/>
        <c:scaling>
          <c:orientation val="minMax"/>
        </c:scaling>
        <c:delete val="0"/>
        <c:axPos val="l"/>
        <c:majorGridlines>
          <c:spPr>
            <a:ln w="12600">
              <a:solidFill>
                <a:srgbClr val="d9d9d9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1000" spc="-1" strike="noStrike">
                    <a:solidFill>
                      <a:srgbClr val="000000"/>
                    </a:solidFill>
                    <a:latin typeface="Arial"/>
                  </a:rPr>
                  <a:t>Gross margin 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79472578"/>
        <c:crosses val="autoZero"/>
        <c:crossBetween val="midCat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7CB7F96-8ABA-4BBC-B885-5224617FF7E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D221EE-A7B5-408C-95E1-943FC5CBD2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7E19F-AC22-43EC-A743-E2BCE2DB45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479A98-1832-4D10-8F15-DA870329D0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0C4946-F087-4612-BE28-21E2E80E0A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67930D-CD23-49FA-AFD0-D5D92A5847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893ACE-5F04-491E-9C5F-554BD9958A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e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31520" y="210312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Ribera Foods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30175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e9c46a"/>
                </a:solidFill>
                <a:latin typeface="Arial"/>
                <a:ea typeface="Arial"/>
              </a:rPr>
              <a:t>Board report · Q3 2026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58521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0d3"/>
                </a:solidFill>
                <a:latin typeface="Arial"/>
                <a:ea typeface="Arial"/>
              </a:rPr>
              <a:t>Board meeting of 12 November 2026 · Strictly confidential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45720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5e3a"/>
                </a:solidFill>
                <a:latin typeface="Arial"/>
                <a:ea typeface="Arial"/>
              </a:rPr>
              <a:t>Profit and loss, Q3 2026 vs plan (€k)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" name="Table 0"/>
          <p:cNvGraphicFramePr/>
          <p:nvPr/>
        </p:nvGraphicFramePr>
        <p:xfrm>
          <a:off x="457200" y="1097280"/>
          <a:ext cx="11246760" cy="34560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83760">
                <a:tc rowSpan="2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solidFill>
                          <a:schemeClr val="dk1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Q3 2026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Year to date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8a9a3b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37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Actual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Plan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Var.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Actual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8a9a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Plan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8a9a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Var.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8a9a3b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Net sales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38,420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36,900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+1,520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109,870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108,200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+1,670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Cost of goods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-26,130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-24,950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</a:rPr>
                        <a:t>-1,180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-74,410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-73,180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</a:rPr>
                        <a:t>-1,230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Gross profit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12,290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11,950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+340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35,460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35,020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+440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Selling &amp; distribution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-5,860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-5,700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</a:rPr>
                        <a:t>-160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-16,950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-16,800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</a:rPr>
                        <a:t>-150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Administration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-2,410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-2,500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+90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-7,180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-7,500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+320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EBITDA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4,020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3,750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+270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11,330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10,720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+610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eef2ea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EBITDA margin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10.5%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10.2%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+0.3 pts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10.3%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9.9%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+0.4 pts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1"/>
          <p:cNvSpPr/>
          <p:nvPr/>
        </p:nvSpPr>
        <p:spPr>
          <a:xfrm>
            <a:off x="457200" y="635508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f6b62"/>
                </a:solidFill>
                <a:latin typeface="Arial"/>
                <a:ea typeface="Arial"/>
              </a:rPr>
              <a:t>Figures unaudited. Cost of goods includes the olive oil price spike (+18% on Q2); see slide 4.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5e3a"/>
                </a:solidFill>
                <a:latin typeface="Arial"/>
                <a:ea typeface="Arial"/>
              </a:rPr>
              <a:t>Sales grew while margin recovered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" name="Chart 0"/>
          <p:cNvGraphicFramePr/>
          <p:nvPr/>
        </p:nvGraphicFramePr>
        <p:xfrm>
          <a:off x="457200" y="1097280"/>
          <a:ext cx="768060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ext 1"/>
          <p:cNvSpPr/>
          <p:nvPr/>
        </p:nvSpPr>
        <p:spPr>
          <a:xfrm>
            <a:off x="8412480" y="1280160"/>
            <a:ext cx="32914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September was the best month on record: </a:t>
            </a:r>
            <a:r>
              <a:rPr b="0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€13.6M, driven by the new cold-chain contract with Norte Logistics.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Margin bottomed in April </a:t>
            </a:r>
            <a:r>
              <a:rPr b="0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at 30.2% and is back to 33.0% after the June price increase.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5720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5e3a"/>
                </a:solidFill>
                <a:latin typeface="Arial"/>
                <a:ea typeface="Arial"/>
              </a:rPr>
              <a:t>Where each euro of cost goes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" name="Chart 0"/>
          <p:cNvGraphicFramePr/>
          <p:nvPr/>
        </p:nvGraphicFramePr>
        <p:xfrm>
          <a:off x="457200" y="1097280"/>
          <a:ext cx="548604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Text 1"/>
          <p:cNvSpPr/>
          <p:nvPr/>
        </p:nvSpPr>
        <p:spPr>
          <a:xfrm>
            <a:off x="6309360" y="11887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e5e3a"/>
                </a:solidFill>
                <a:latin typeface="Arial"/>
                <a:ea typeface="Arial"/>
              </a:rPr>
              <a:t>Raw materials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309360" y="1600200"/>
            <a:ext cx="2559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2"/>
                </a:solidFill>
                <a:latin typeface="Arial"/>
                <a:ea typeface="Arial"/>
              </a:rPr>
              <a:t>Olive oil rose 18% in Q2 and stayed there. We locked 60% of 2027 volume at €7.10/kg in October.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9144000" y="11887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e5e3a"/>
                </a:solidFill>
                <a:latin typeface="Arial"/>
                <a:ea typeface="Arial"/>
              </a:rPr>
              <a:t>Energy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9144000" y="1600200"/>
            <a:ext cx="2559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a22"/>
                </a:solidFill>
                <a:latin typeface="Arial"/>
                <a:ea typeface="Arial"/>
              </a:rPr>
              <a:t>Solar roof at Écija came online in July: energy fell from 15% to 13% of cost.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457200" y="635508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f6b62"/>
                </a:solidFill>
                <a:latin typeface="Arial"/>
                <a:ea typeface="Arial"/>
              </a:rPr>
              <a:t>Share of total cost of goods, by quarter. Q3 2026.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5e3a"/>
                </a:solidFill>
                <a:latin typeface="Arial"/>
                <a:ea typeface="Arial"/>
              </a:rPr>
              <a:t>SKU review: low-volume, low-margin products to cut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1097280"/>
          <a:ext cx="731484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Shape 1"/>
          <p:cNvSpPr/>
          <p:nvPr/>
        </p:nvSpPr>
        <p:spPr>
          <a:xfrm>
            <a:off x="8138160" y="1280160"/>
            <a:ext cx="3565800" cy="2011320"/>
          </a:xfrm>
          <a:prstGeom prst="rect">
            <a:avLst/>
          </a:prstGeom>
          <a:solidFill>
            <a:srgbClr val="f7e9e9"/>
          </a:solidFill>
          <a:ln w="12700">
            <a:solidFill>
              <a:srgbClr val="b23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8321040" y="1417320"/>
            <a:ext cx="3200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4 SKUs below 20% margin and 25k units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f2a22"/>
                </a:solidFill>
                <a:latin typeface="Arial"/>
                <a:ea typeface="Arial"/>
              </a:rPr>
              <a:t>Cutting them frees one packing line and loses 2.1% of sales.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5e3a"/>
                </a:solidFill>
                <a:latin typeface="Arial"/>
                <a:ea typeface="Arial"/>
              </a:rPr>
              <a:t>Decisions for the board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" name="Table 0"/>
          <p:cNvGraphicFramePr/>
          <p:nvPr/>
        </p:nvGraphicFramePr>
        <p:xfrm>
          <a:off x="457200" y="1188720"/>
          <a:ext cx="11246760" cy="2743200"/>
        </p:xfrm>
        <a:graphic>
          <a:graphicData uri="http://schemas.openxmlformats.org/drawingml/2006/table">
            <a:tbl>
              <a:tblPr/>
              <a:tblGrid>
                <a:gridCol w="548640"/>
                <a:gridCol w="4937760"/>
                <a:gridCol w="2560320"/>
                <a:gridCol w="1280160"/>
                <a:gridCol w="192024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#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Decision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Cost / impact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Owner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Vote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2e5e3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Approve 2027 olive oil hedge (60% of volume)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€</a:t>
                      </a: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14.2M commitment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CFO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For approval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Discontinue 4 low-margin SKUs from January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-2.1% sales, +0.6 pts margin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COO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For approval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Second solar phase at Écija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(1.2 MW, 6-year payback)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€</a:t>
                      </a: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1.9M capex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COO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a22"/>
                          </a:solidFill>
                          <a:latin typeface="Arial"/>
                          <a:ea typeface="Arial"/>
                        </a:rPr>
                        <a:t>For approval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noFill/>
                  </a:tcPr>
                </a:tc>
              </a:tr>
              <a:tr h="548640">
                <a:tc gridSpan="5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400" spc="-1" strike="noStrike">
                          <a:solidFill>
                            <a:srgbClr val="5f6b62"/>
                          </a:solidFill>
                          <a:latin typeface="Arial"/>
                          <a:ea typeface="Arial"/>
                        </a:rPr>
                        <a:t>For information: the auditor rotation proposal will come to the December meeting.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6dcd3"/>
                      </a:solidFill>
                      <a:prstDash val="solid"/>
                    </a:lnL>
                    <a:lnR w="6480">
                      <a:solidFill>
                        <a:srgbClr val="d6dcd3"/>
                      </a:solidFill>
                      <a:prstDash val="solid"/>
                    </a:lnR>
                    <a:lnT w="6480">
                      <a:solidFill>
                        <a:srgbClr val="d6dcd3"/>
                      </a:solidFill>
                      <a:prstDash val="solid"/>
                    </a:lnT>
                    <a:lnB w="6480">
                      <a:solidFill>
                        <a:srgbClr val="d6dcd3"/>
                      </a:solidFill>
                      <a:prstDash val="solid"/>
                    </a:lnB>
                    <a:solidFill>
                      <a:srgbClr val="f3f5f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2026-10-31T09:11:59Z</dcterms:created>
  <dc:creator>PptxGenJS</dc:creator>
  <dc:description/>
  <dc:language>en-US</dc:language>
  <cp:lastModifiedBy>PptxGenJS</cp:lastModifiedBy>
  <dcterms:modified xsi:type="dcterms:W3CDTF">2026-10-31T09:11:59Z</dcterms:modified>
  <cp:revision>1</cp:revision>
  <dc:subject>PptxGenJS Presentation</dc:subject>
  <dc:title>Ribera Foods — Board report Q3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