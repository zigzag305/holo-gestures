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Iberia</c:v>
                </c:pt>
              </c:strCache>
            </c:strRef>
          </c:tx>
          <c:marker>
            <c:symbol val="circle"/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3.9</c:v>
                </c:pt>
                <c:pt idx="1">
                  <c:v>4.0</c:v>
                </c:pt>
                <c:pt idx="2">
                  <c:v>4.3</c:v>
                </c:pt>
                <c:pt idx="3">
                  <c:v>4.4</c:v>
                </c:pt>
                <c:pt idx="4">
                  <c:v>4.6</c:v>
                </c:pt>
                <c:pt idx="5">
                  <c:v>4.7</c:v>
                </c:pt>
                <c:pt idx="6">
                  <c:v>4.5</c:v>
                </c:pt>
                <c:pt idx="7">
                  <c:v>4.2</c:v>
                </c:pt>
                <c:pt idx="8">
                  <c:v>4.8</c:v>
                </c:pt>
                <c:pt idx="9">
                  <c:v>5.0</c:v>
                </c:pt>
                <c:pt idx="10">
                  <c:v>5.1</c:v>
                </c:pt>
                <c:pt idx="11">
                  <c:v>5.3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France</c:v>
                </c:pt>
              </c:strCache>
            </c:strRef>
          </c:tx>
          <c:marker>
            <c:symbol val="circle"/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1.6</c:v>
                </c:pt>
                <c:pt idx="1">
                  <c:v>1.6</c:v>
                </c:pt>
                <c:pt idx="2">
                  <c:v>1.7</c:v>
                </c:pt>
                <c:pt idx="3">
                  <c:v>1.7</c:v>
                </c:pt>
                <c:pt idx="4">
                  <c:v>1.8</c:v>
                </c:pt>
                <c:pt idx="5">
                  <c:v>1.8</c:v>
                </c:pt>
                <c:pt idx="6">
                  <c:v>1.7</c:v>
                </c:pt>
                <c:pt idx="7">
                  <c:v>1.5</c:v>
                </c:pt>
                <c:pt idx="8">
                  <c:v>1.8</c:v>
                </c:pt>
                <c:pt idx="9">
                  <c:v>1.9</c:v>
                </c:pt>
                <c:pt idx="10">
                  <c:v>1.9</c:v>
                </c:pt>
                <c:pt idx="11">
                  <c:v>2.0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Morocco</c:v>
                </c:pt>
              </c:strCache>
            </c:strRef>
          </c:tx>
          <c:marker>
            <c:symbol val="circle"/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0.1</c:v>
                </c:pt>
                <c:pt idx="4">
                  <c:v>0.2</c:v>
                </c:pt>
                <c:pt idx="5">
                  <c:v>0.3</c:v>
                </c:pt>
                <c:pt idx="6">
                  <c:v>0.4</c:v>
                </c:pt>
                <c:pt idx="7">
                  <c:v>0.4</c:v>
                </c:pt>
                <c:pt idx="8">
                  <c:v>0.5</c:v>
                </c:pt>
                <c:pt idx="9">
                  <c:v>0.6</c:v>
                </c:pt>
                <c:pt idx="10">
                  <c:v>0.7</c:v>
                </c:pt>
                <c:pt idx="11">
                  <c:v>0.8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FY2026 €M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Road freight</c:v>
                </c:pt>
                <c:pt idx="1">
                  <c:v>Cold chain</c:v>
                </c:pt>
                <c:pt idx="2">
                  <c:v>Warehousing</c:v>
                </c:pt>
                <c:pt idx="3">
                  <c:v>Customs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46.3</c:v>
                </c:pt>
                <c:pt idx="1">
                  <c:v>19.4</c:v>
                </c:pt>
                <c:pt idx="2">
                  <c:v>12.6</c:v>
                </c:pt>
                <c:pt idx="3">
                  <c:v>5.9</c:v>
                </c:pt>
              </c:numCache>
            </c:numRef>
          </c:val>
        </c:ser>
        <c:dLbls>
          <c:numFmt formatCode="0%" sourceLinked="0"/>
          <c:dLblPos val="outEnd"/>
          <c:showLegendKey val="0"/>
          <c:showVal val="0"/>
          <c:showCatName val="1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Qualified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Iberia</c:v>
                </c:pt>
                <c:pt idx="1">
                  <c:v>France</c:v>
                </c:pt>
                <c:pt idx="2">
                  <c:v>Morocco</c:v>
                </c:pt>
                <c:pt idx="3">
                  <c:v>New: Italy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12.0</c:v>
                </c:pt>
                <c:pt idx="1">
                  <c:v>5.5</c:v>
                </c:pt>
                <c:pt idx="2">
                  <c:v>3.1</c:v>
                </c:pt>
                <c:pt idx="3">
                  <c:v>1.8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Proposal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Iberia</c:v>
                </c:pt>
                <c:pt idx="1">
                  <c:v>France</c:v>
                </c:pt>
                <c:pt idx="2">
                  <c:v>Morocco</c:v>
                </c:pt>
                <c:pt idx="3">
                  <c:v>New: Italy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8.4</c:v>
                </c:pt>
                <c:pt idx="1">
                  <c:v>3.2</c:v>
                </c:pt>
                <c:pt idx="2">
                  <c:v>2.0</c:v>
                </c:pt>
                <c:pt idx="3">
                  <c:v>0.6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Negotiation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Iberia</c:v>
                </c:pt>
                <c:pt idx="1">
                  <c:v>France</c:v>
                </c:pt>
                <c:pt idx="2">
                  <c:v>Morocco</c:v>
                </c:pt>
                <c:pt idx="3">
                  <c:v>New: Italy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4.1</c:v>
                </c:pt>
                <c:pt idx="1">
                  <c:v>1.9</c:v>
                </c:pt>
                <c:pt idx="2">
                  <c:v>0.9</c:v>
                </c:pt>
                <c:pt idx="3">
                  <c:v>0.2</c:v>
                </c:pt>
              </c:numCache>
            </c:numRef>
          </c:val>
        </c:ser>
        <c:dLbls>
          <c:numFmt formatCode="0.0" sourceLinked="0"/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Utilisation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Q1 25</c:v>
                </c:pt>
                <c:pt idx="1">
                  <c:v>Q2 25</c:v>
                </c:pt>
                <c:pt idx="2">
                  <c:v>Q3 25</c:v>
                </c:pt>
                <c:pt idx="3">
                  <c:v>Q4 25</c:v>
                </c:pt>
                <c:pt idx="4">
                  <c:v>Q1 26</c:v>
                </c:pt>
                <c:pt idx="5">
                  <c:v>Q2 26</c:v>
                </c:pt>
                <c:pt idx="6">
                  <c:v>Q3 26</c:v>
                </c:pt>
                <c:pt idx="7">
                  <c:v>Q4 26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0.78</c:v>
                </c:pt>
                <c:pt idx="1">
                  <c:v>0.81</c:v>
                </c:pt>
                <c:pt idx="2">
                  <c:v>0.84</c:v>
                </c:pt>
                <c:pt idx="3">
                  <c:v>0.83</c:v>
                </c:pt>
                <c:pt idx="4">
                  <c:v>0.82</c:v>
                </c:pt>
                <c:pt idx="5">
                  <c:v>0.85</c:v>
                </c:pt>
                <c:pt idx="6">
                  <c:v>0.87</c:v>
                </c:pt>
                <c:pt idx="7">
                  <c:v>0.86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  <c:max val="0.9"/>
          <c:min val="0.7"/>
        </c:scaling>
        <c:delete val="0"/>
        <c:axPos val="l"/>
        <c:majorGridlines/>
        <c:numFmt formatCode="0%" sourceLinked="0"/>
        <c:majorTickMark val="out"/>
        <c:minorTickMark val="none"/>
        <c:tickLblPos val="nextTo"/>
        <c:crossAx val="-2101159928"/>
        <c:crosses val="autoZero"/>
        <c:crossBetween val="midCat"/>
      </c:valAx>
    </c:plotArea>
    <c:plotVisOnly val="1"/>
    <c:dispBlanksAs val="zero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everyone. Two goals today: agree the FY2027 numbers and leave with one plan per region.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Iberia carried the year. Morocco went from zero to €0.8M a month in nine months.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total row is merged on purpose: one sentence, not three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Norte Logistics</a:t>
            </a:r>
          </a:p>
          <a:p>
            <a:r>
              <a:t>Sales Kickoff FY2027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Lisbon · 14 January 2027 · Commercial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FY2026 in one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€84.2M, up 11% on FY2025</a:t>
            </a:r>
          </a:p>
          <a:p>
            <a:pPr lvl="1"/>
            <a:r>
              <a:t>Iberia +14%, France +6%, Morocco new</a:t>
            </a:r>
          </a:p>
          <a:p>
            <a:pPr/>
            <a:r>
              <a:t>Gross margin 18.4%, up 1.1 points</a:t>
            </a:r>
          </a:p>
          <a:p>
            <a:pPr lvl="1"/>
            <a:r>
              <a:t>Fuel surcharge recovered in full from Q2</a:t>
            </a:r>
          </a:p>
          <a:p>
            <a:pPr/>
            <a:r>
              <a:t>Net new customers: 212</a:t>
            </a:r>
          </a:p>
          <a:p>
            <a:pPr lvl="1"/>
            <a:r>
              <a:t>Largest win: Ribera Foods cold chain, €3.1M a year</a:t>
            </a:r>
          </a:p>
          <a:p>
            <a:pPr/>
            <a:r>
              <a:t>Churn 4.8%, below the 6% target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the money came from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Revenue, margin and pipeline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Monthly revenue by region (€M)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463040"/>
          <a:ext cx="82296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mix by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Road freight is still the core</a:t>
            </a:r>
          </a:p>
          <a:p>
            <a:r>
              <a:t>Cold chain is the fastest-growing line</a:t>
            </a:r>
          </a:p>
          <a:p>
            <a:r>
              <a:t>Warehousing margin is twice road's</a:t>
            </a:r>
          </a:p>
          <a:p>
            <a:r>
              <a:t>Customs brokerage doubled with Morocco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663440" y="1554480"/>
          <a:ext cx="402336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FY2027 pipeline by stage (€M)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463040"/>
          <a:ext cx="822960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Fleet utilisation stayed above 80%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463040"/>
          <a:ext cx="566928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6400800" y="2011680"/>
            <a:ext cx="2286000" cy="14630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3600" b="1"/>
              <a:t>87%</a:t>
            </a:r>
          </a:p>
          <a:p>
            <a:r>
              <a:t>peak in Q3 2026</a:t>
            </a:r>
          </a:p>
        </p:txBody>
      </p:sp>
      <p:cxnSp>
        <p:nvCxnSpPr>
          <p:cNvPr id="5" name="Connector 4"/>
          <p:cNvCxnSpPr/>
          <p:nvPr/>
        </p:nvCxnSpPr>
        <p:spPr>
          <a:xfrm flipH="1">
            <a:off x="5120640" y="2743200"/>
            <a:ext cx="1280160" cy="274320"/>
          </a:xfrm>
          <a:prstGeom prst="line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FY2027 targets and priorities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63040"/>
          <a:ext cx="51206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280160"/>
                <a:gridCol w="1280160"/>
              </a:tblGrid>
              <a:tr h="548640">
                <a:tc>
                  <a:txBody>
                    <a:bodyPr/>
                    <a:lstStyle/>
                    <a:p>
                      <a:r>
                        <a:rPr sz="14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FY2026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FY2027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Growth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/>
                        <a:t>Iberia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54.1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60.5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+12%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/>
                        <a:t>France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+8%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/>
                        <a:t>Morocco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3.9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+92%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/>
                        <a:t>Italy (new)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new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/>
                        <a:t>Total €M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sz="1400"/>
                        <a:t>€79.0M → €92.7M (+17%)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852160" y="146304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  <a:spcAft>
                <a:spcPts val="1200"/>
              </a:spcAft>
              <a:buAutoNum type="arabicPeriod"/>
            </a:pPr>
            <a:r>
              <a:t>Win 25 cold-chain accounts</a:t>
            </a:r>
          </a:p>
          <a:p>
            <a:pPr>
              <a:defRPr sz="1800"/>
              <a:spcAft>
                <a:spcPts val="1200"/>
              </a:spcAft>
              <a:buAutoNum type="arabicPeriod"/>
            </a:pPr>
            <a:r>
              <a:t>Open Milan depot by June</a:t>
            </a:r>
          </a:p>
          <a:p>
            <a:pPr>
              <a:defRPr sz="1800"/>
              <a:spcAft>
                <a:spcPts val="1200"/>
              </a:spcAft>
              <a:buAutoNum type="arabicPeriod"/>
            </a:pPr>
            <a:r>
              <a:t>Cut quote time to 24 hours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