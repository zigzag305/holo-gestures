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B3D"/>
              </a:gs>
              <a:gs pos="100000">
                <a:srgbClr val="2C5CD8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080000">
            <a:off x="8595360" y="548640"/>
            <a:ext cx="2011680" cy="2011680"/>
          </a:xfrm>
          <a:prstGeom prst="round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160000">
            <a:off x="9692640" y="2377440"/>
            <a:ext cx="2011680" cy="2011680"/>
          </a:xfrm>
          <a:prstGeom prst="roundRect">
            <a:avLst/>
          </a:prstGeom>
          <a:solidFill>
            <a:srgbClr val="1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400000">
            <a:off x="8138160" y="3840480"/>
            <a:ext cx="2011680" cy="20116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480560"/>
            <a:ext cx="1737360" cy="1737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4244B"/>
                </a:solidFill>
                <a:latin typeface="Calibri"/>
              </a:rPr>
              <a:t>H1</a:t>
            </a:r>
          </a:p>
          <a:p>
            <a:pPr algn="ctr"/>
            <a:r>
              <a:rPr sz="2200" b="1">
                <a:solidFill>
                  <a:srgbClr val="14244B"/>
                </a:solidFill>
                <a:latin typeface="Calibri"/>
              </a:rPr>
              <a:t>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6858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Quanta Health</a:t>
            </a:r>
          </a:p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Product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DBF5"/>
                </a:solidFill>
                <a:latin typeface="Calibri"/>
              </a:rPr>
              <a:t>Leadership review · 20 January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972800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4244B"/>
                </a:solidFill>
              </a:rPr>
              <a:t>How a member moves through Quanta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640" y="2194560"/>
            <a:ext cx="11338560" cy="2103120"/>
            <a:chOff x="548640" y="2194560"/>
            <a:chExt cx="11338560" cy="2103120"/>
          </a:xfrm>
        </p:grpSpPr>
        <p:grpSp>
          <p:nvGrpSpPr>
            <p:cNvPr id="4" name="Group 3"/>
            <p:cNvGrpSpPr/>
            <p:nvPr/>
          </p:nvGrpSpPr>
          <p:grpSpPr>
            <a:xfrm>
              <a:off x="548640" y="2194560"/>
              <a:ext cx="2377440" cy="2103120"/>
              <a:chOff x="548640" y="2194560"/>
              <a:chExt cx="2377440" cy="2103120"/>
            </a:xfrm>
          </p:grpSpPr>
          <p:sp>
            <p:nvSpPr>
              <p:cNvPr id="5" name="Pentagon 4"/>
              <p:cNvSpPr/>
              <p:nvPr/>
            </p:nvSpPr>
            <p:spPr>
              <a:xfrm>
                <a:off x="548640" y="2194560"/>
                <a:ext cx="2377440" cy="1097280"/>
              </a:xfrm>
              <a:prstGeom prst="homePlate">
                <a:avLst/>
              </a:prstGeom>
              <a:solidFill>
                <a:srgbClr val="14244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wrap="square"/>
              <a:lstStyle/>
              <a:p>
                <a:pPr algn="ctr"/>
                <a:r>
                  <a:rPr sz="2000" b="1">
                    <a:solidFill>
                      <a:srgbClr val="FFFFFF"/>
                    </a:solidFill>
                    <a:latin typeface="Calibri"/>
                  </a:rPr>
                  <a:t>Join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685800" y="3474720"/>
                <a:ext cx="2011680" cy="822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400" b="0">
                    <a:solidFill>
                      <a:srgbClr val="1C2533"/>
                    </a:solidFill>
                    <a:latin typeface="Calibri"/>
                  </a:rPr>
                  <a:t>Onboarding quiz, 3 min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2788920" y="2194560"/>
              <a:ext cx="2377440" cy="2103120"/>
              <a:chOff x="2788920" y="2194560"/>
              <a:chExt cx="2377440" cy="2103120"/>
            </a:xfrm>
          </p:grpSpPr>
          <p:sp>
            <p:nvSpPr>
              <p:cNvPr id="8" name="Chevron 7"/>
              <p:cNvSpPr/>
              <p:nvPr/>
            </p:nvSpPr>
            <p:spPr>
              <a:xfrm>
                <a:off x="2788920" y="2194560"/>
                <a:ext cx="2377440" cy="1097280"/>
              </a:xfrm>
              <a:prstGeom prst="chevron">
                <a:avLst/>
              </a:prstGeom>
              <a:solidFill>
                <a:srgbClr val="3478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wrap="square"/>
              <a:lstStyle/>
              <a:p>
                <a:pPr algn="ctr"/>
                <a:r>
                  <a:rPr sz="2000" b="1">
                    <a:solidFill>
                      <a:srgbClr val="FFFFFF"/>
                    </a:solidFill>
                    <a:latin typeface="Calibri"/>
                  </a:rPr>
                  <a:t>Measure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926080" y="3474720"/>
                <a:ext cx="2011680" cy="822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400" b="0">
                    <a:solidFill>
                      <a:srgbClr val="1C2533"/>
                    </a:solidFill>
                    <a:latin typeface="Calibri"/>
                  </a:rPr>
                  <a:t>Wearable + lab sync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5029200" y="2194560"/>
              <a:ext cx="2377440" cy="2103120"/>
              <a:chOff x="5029200" y="2194560"/>
              <a:chExt cx="2377440" cy="2103120"/>
            </a:xfrm>
          </p:grpSpPr>
          <p:sp>
            <p:nvSpPr>
              <p:cNvPr id="11" name="Chevron 10"/>
              <p:cNvSpPr/>
              <p:nvPr/>
            </p:nvSpPr>
            <p:spPr>
              <a:xfrm>
                <a:off x="5029200" y="2194560"/>
                <a:ext cx="2377440" cy="1097280"/>
              </a:xfrm>
              <a:prstGeom prst="chevron">
                <a:avLst/>
              </a:prstGeom>
              <a:solidFill>
                <a:srgbClr val="10A07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wrap="square"/>
              <a:lstStyle/>
              <a:p>
                <a:pPr algn="ctr"/>
                <a:r>
                  <a:rPr sz="2000" b="1">
                    <a:solidFill>
                      <a:srgbClr val="FFFFFF"/>
                    </a:solidFill>
                    <a:latin typeface="Calibri"/>
                  </a:rPr>
                  <a:t>Plan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166360" y="3474720"/>
                <a:ext cx="2011680" cy="822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400" b="0">
                    <a:solidFill>
                      <a:srgbClr val="1C2533"/>
                    </a:solidFill>
                    <a:latin typeface="Calibri"/>
                  </a:rPr>
                  <a:t>Coach builds a 12-week plan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7269480" y="2194560"/>
              <a:ext cx="2377440" cy="2103120"/>
              <a:chOff x="7269480" y="2194560"/>
              <a:chExt cx="2377440" cy="2103120"/>
            </a:xfrm>
          </p:grpSpPr>
          <p:sp>
            <p:nvSpPr>
              <p:cNvPr id="14" name="Chevron 13"/>
              <p:cNvSpPr/>
              <p:nvPr/>
            </p:nvSpPr>
            <p:spPr>
              <a:xfrm>
                <a:off x="7269480" y="2194560"/>
                <a:ext cx="2377440" cy="1097280"/>
              </a:xfrm>
              <a:prstGeom prst="chevron">
                <a:avLst/>
              </a:prstGeom>
              <a:solidFill>
                <a:srgbClr val="F5A62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wrap="square"/>
              <a:lstStyle/>
              <a:p>
                <a:pPr algn="ctr"/>
                <a:r>
                  <a:rPr sz="2000" b="1">
                    <a:solidFill>
                      <a:srgbClr val="FFFFFF"/>
                    </a:solidFill>
                    <a:latin typeface="Calibri"/>
                  </a:rPr>
                  <a:t>Act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406640" y="3474720"/>
                <a:ext cx="2011680" cy="822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400" b="0">
                    <a:solidFill>
                      <a:srgbClr val="1C2533"/>
                    </a:solidFill>
                    <a:latin typeface="Calibri"/>
                  </a:rPr>
                  <a:t>Daily nudges and check-ins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9509760" y="2194560"/>
              <a:ext cx="2377440" cy="2103120"/>
              <a:chOff x="9509760" y="2194560"/>
              <a:chExt cx="2377440" cy="2103120"/>
            </a:xfrm>
          </p:grpSpPr>
          <p:sp>
            <p:nvSpPr>
              <p:cNvPr id="17" name="Chevron 16"/>
              <p:cNvSpPr/>
              <p:nvPr/>
            </p:nvSpPr>
            <p:spPr>
              <a:xfrm>
                <a:off x="9509760" y="2194560"/>
                <a:ext cx="2377440" cy="1097280"/>
              </a:xfrm>
              <a:prstGeom prst="chevron">
                <a:avLst/>
              </a:prstGeom>
              <a:solidFill>
                <a:srgbClr val="E04F6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wrap="square"/>
              <a:lstStyle/>
              <a:p>
                <a:pPr algn="ctr"/>
                <a:r>
                  <a:rPr sz="2000" b="1">
                    <a:solidFill>
                      <a:srgbClr val="FFFFFF"/>
                    </a:solidFill>
                    <a:latin typeface="Calibri"/>
                  </a:rPr>
                  <a:t>Renew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9646920" y="3474720"/>
                <a:ext cx="2011680" cy="822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400" b="0">
                    <a:solidFill>
                      <a:srgbClr val="1C2533"/>
                    </a:solidFill>
                    <a:latin typeface="Calibri"/>
                  </a:rPr>
                  <a:t>Quarterly review</a:t>
                </a:r>
              </a:p>
            </p:txBody>
          </p:sp>
        </p:grpSp>
      </p:grpSp>
      <p:sp>
        <p:nvSpPr>
          <p:cNvPr id="19" name="TextBox 18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44B"/>
                </a:solidFill>
                <a:latin typeface="Calibri"/>
              </a:rPr>
              <a:t>Retention is decided in step 4: members who answer 5 nudges in week one stay 3× longer.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972800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4244B"/>
                </a:solidFill>
              </a:rPr>
              <a:t>H1 2027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2377440" y="1325880"/>
            <a:ext cx="1517904" cy="41148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533"/>
                </a:solidFill>
                <a:latin typeface="Calibri"/>
              </a:rPr>
              <a:t>Jan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325880"/>
            <a:ext cx="1517904" cy="41148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533"/>
                </a:solidFill>
                <a:latin typeface="Calibri"/>
              </a:rPr>
              <a:t>Feb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25880"/>
            <a:ext cx="1517904" cy="41148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533"/>
                </a:solidFill>
                <a:latin typeface="Calibri"/>
              </a:rPr>
              <a:t>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79" y="1325880"/>
            <a:ext cx="1517904" cy="41148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533"/>
                </a:solidFill>
                <a:latin typeface="Calibri"/>
              </a:rPr>
              <a:t>Apr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325880"/>
            <a:ext cx="1517904" cy="41148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533"/>
                </a:solidFill>
                <a:latin typeface="Calibri"/>
              </a:rPr>
              <a:t>May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9840" y="1325880"/>
            <a:ext cx="1517904" cy="41148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C2533"/>
                </a:solidFill>
                <a:latin typeface="Calibri"/>
              </a:rPr>
              <a:t>Jun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44B"/>
                </a:solidFill>
                <a:latin typeface="Calibri"/>
              </a:rPr>
              <a:t>Coaching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057400"/>
            <a:ext cx="3813048" cy="566928"/>
          </a:xfrm>
          <a:prstGeom prst="roundRect">
            <a:avLst/>
          </a:prstGeom>
          <a:solidFill>
            <a:srgbClr val="3478F6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 coach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79" y="2057400"/>
            <a:ext cx="4434840" cy="566928"/>
          </a:xfrm>
          <a:prstGeom prst="roundRect">
            <a:avLst/>
          </a:prstGeom>
          <a:solidFill>
            <a:srgbClr val="3478F6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Group programmes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79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44B"/>
                </a:solidFill>
                <a:latin typeface="Calibri"/>
              </a:rPr>
              <a:t>Devices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3108960"/>
            <a:ext cx="2258568" cy="566928"/>
          </a:xfrm>
          <a:prstGeom prst="roundRect">
            <a:avLst/>
          </a:prstGeom>
          <a:solidFill>
            <a:srgbClr val="10A078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Oura + Whoop sync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108960"/>
            <a:ext cx="3035808" cy="566928"/>
          </a:xfrm>
          <a:prstGeom prst="roundRect">
            <a:avLst/>
          </a:prstGeom>
          <a:solidFill>
            <a:srgbClr val="10A078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Glucose sensor beta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44B"/>
                </a:solidFill>
                <a:latin typeface="Calibri"/>
              </a:rPr>
              <a:t>Platform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4160519"/>
            <a:ext cx="2258568" cy="56692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SOC 2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4160519"/>
            <a:ext cx="5678424" cy="56692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EU data residency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44B"/>
                </a:solidFill>
                <a:latin typeface="Calibri"/>
              </a:rPr>
              <a:t>Growth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5212079"/>
            <a:ext cx="3035808" cy="566928"/>
          </a:xfrm>
          <a:prstGeom prst="roundRect">
            <a:avLst/>
          </a:prstGeom>
          <a:solidFill>
            <a:srgbClr val="E04F6A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Employer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223" y="5212079"/>
            <a:ext cx="4123944" cy="566928"/>
          </a:xfrm>
          <a:prstGeom prst="roundRect">
            <a:avLst/>
          </a:prstGeom>
          <a:solidFill>
            <a:srgbClr val="E04F6A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Spain launch</a:t>
            </a:r>
          </a:p>
        </p:txBody>
      </p:sp>
      <p:sp>
        <p:nvSpPr>
          <p:cNvPr id="21" name="5-Point Star 20"/>
          <p:cNvSpPr/>
          <p:nvPr/>
        </p:nvSpPr>
        <p:spPr>
          <a:xfrm>
            <a:off x="6108192" y="1755648"/>
            <a:ext cx="310896" cy="310896"/>
          </a:xfrm>
          <a:prstGeom prst="star5">
            <a:avLst/>
          </a:prstGeom>
          <a:solidFill>
            <a:srgbClr val="FFD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>
            <a:off x="11393424" y="1755648"/>
            <a:ext cx="310896" cy="310896"/>
          </a:xfrm>
          <a:prstGeom prst="star5">
            <a:avLst/>
          </a:prstGeom>
          <a:solidFill>
            <a:srgbClr val="FFD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5-Point Star 22"/>
          <p:cNvSpPr/>
          <p:nvPr/>
        </p:nvSpPr>
        <p:spPr>
          <a:xfrm>
            <a:off x="9217152" y="2807208"/>
            <a:ext cx="310896" cy="310896"/>
          </a:xfrm>
          <a:prstGeom prst="star5">
            <a:avLst/>
          </a:prstGeom>
          <a:solidFill>
            <a:srgbClr val="FFD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387852" y="1783080"/>
            <a:ext cx="0" cy="4480560"/>
          </a:xfrm>
          <a:prstGeom prst="line">
            <a:avLst/>
          </a:prstGeom>
          <a:ln w="25400">
            <a:solidFill>
              <a:srgbClr val="E04F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30652" y="62636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04F6A"/>
                </a:solidFill>
                <a:latin typeface="Calibri"/>
              </a:rPr>
              <a:t>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972800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4244B"/>
                </a:solidFill>
              </a:rPr>
              <a:t>What changes in the platform</a:t>
            </a:r>
          </a:p>
        </p:txBody>
      </p:sp>
      <p:sp>
        <p:nvSpPr>
          <p:cNvPr id="3" name="Hexagon 2"/>
          <p:cNvSpPr/>
          <p:nvPr/>
        </p:nvSpPr>
        <p:spPr>
          <a:xfrm>
            <a:off x="914400" y="2377440"/>
            <a:ext cx="2377440" cy="1280160"/>
          </a:xfrm>
          <a:prstGeom prst="hexagon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Member app</a:t>
            </a:r>
          </a:p>
        </p:txBody>
      </p:sp>
      <p:sp>
        <p:nvSpPr>
          <p:cNvPr id="4" name="Hexagon 3"/>
          <p:cNvSpPr/>
          <p:nvPr/>
        </p:nvSpPr>
        <p:spPr>
          <a:xfrm>
            <a:off x="4206240" y="2377440"/>
            <a:ext cx="2377440" cy="1280160"/>
          </a:xfrm>
          <a:prstGeom prst="hexagon">
            <a:avLst/>
          </a:prstGeom>
          <a:solidFill>
            <a:srgbClr val="142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Care API</a:t>
            </a:r>
          </a:p>
        </p:txBody>
      </p:sp>
      <p:sp>
        <p:nvSpPr>
          <p:cNvPr id="5" name="Hexagon 4"/>
          <p:cNvSpPr/>
          <p:nvPr/>
        </p:nvSpPr>
        <p:spPr>
          <a:xfrm>
            <a:off x="7498079" y="1280160"/>
            <a:ext cx="2377440" cy="1280160"/>
          </a:xfrm>
          <a:prstGeom prst="hexagon">
            <a:avLst/>
          </a:prstGeom>
          <a:solidFill>
            <a:srgbClr val="1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AI coach</a:t>
            </a:r>
          </a:p>
        </p:txBody>
      </p:sp>
      <p:sp>
        <p:nvSpPr>
          <p:cNvPr id="6" name="Hexagon 5"/>
          <p:cNvSpPr/>
          <p:nvPr/>
        </p:nvSpPr>
        <p:spPr>
          <a:xfrm>
            <a:off x="7498079" y="3566160"/>
            <a:ext cx="2377440" cy="1280160"/>
          </a:xfrm>
          <a:prstGeom prst="hexago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Device hub</a:t>
            </a:r>
          </a:p>
        </p:txBody>
      </p:sp>
      <p:sp>
        <p:nvSpPr>
          <p:cNvPr id="7" name="Hexagon 6"/>
          <p:cNvSpPr/>
          <p:nvPr/>
        </p:nvSpPr>
        <p:spPr>
          <a:xfrm>
            <a:off x="4206240" y="4572000"/>
            <a:ext cx="2377440" cy="1280160"/>
          </a:xfrm>
          <a:prstGeom prst="hexagon">
            <a:avLst/>
          </a:prstGeom>
          <a:solidFill>
            <a:srgbClr val="E04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EU data store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3017520"/>
            <a:ext cx="914400" cy="0"/>
          </a:xfrm>
          <a:prstGeom prst="line">
            <a:avLst/>
          </a:prstGeom>
          <a:ln w="25400">
            <a:solidFill>
              <a:srgbClr val="1C25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583680" y="1920240"/>
            <a:ext cx="914399" cy="1097280"/>
          </a:xfrm>
          <a:prstGeom prst="bentConnector3">
            <a:avLst/>
          </a:prstGeom>
          <a:ln w="25400">
            <a:solidFill>
              <a:srgbClr val="1C25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0" y="3017520"/>
            <a:ext cx="914399" cy="1188720"/>
          </a:xfrm>
          <a:prstGeom prst="bentConnector3">
            <a:avLst/>
          </a:prstGeom>
          <a:ln w="25400">
            <a:solidFill>
              <a:srgbClr val="1C25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3657600"/>
            <a:ext cx="0" cy="914400"/>
          </a:xfrm>
          <a:prstGeom prst="line">
            <a:avLst/>
          </a:prstGeom>
          <a:ln w="25400">
            <a:solidFill>
              <a:srgbClr val="1C25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 flipH="1">
            <a:off x="10058400" y="5120640"/>
            <a:ext cx="1645920" cy="731520"/>
          </a:xfrm>
          <a:prstGeom prst="rightArrow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5897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C2533"/>
                </a:solidFill>
                <a:latin typeface="Calibri"/>
              </a:rPr>
              <a:t>Data flows back to the member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972800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4244B"/>
                </a:solidFill>
              </a:rPr>
              <a:t>AI coach v2, first look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97280" y="1463040"/>
            <a:ext cx="5170516" cy="4846320"/>
            <a:chOff x="1097280" y="1463040"/>
            <a:chExt cx="5170516" cy="4846320"/>
          </a:xfrm>
        </p:grpSpPr>
        <p:pic>
          <p:nvPicPr>
            <p:cNvPr id="4" name="Picture 3" descr="app-hom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463040"/>
              <a:ext cx="2379103" cy="4846320"/>
            </a:xfrm>
            <a:prstGeom prst="rect">
              <a:avLst/>
            </a:prstGeom>
          </p:spPr>
        </p:pic>
        <p:pic>
          <p:nvPicPr>
            <p:cNvPr id="5" name="Picture 4" descr="app-coach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480000">
              <a:off x="4023360" y="1737360"/>
              <a:ext cx="2244436" cy="4572000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 rot="21120000">
            <a:off x="6675120" y="1737360"/>
            <a:ext cx="2194560" cy="457200"/>
          </a:xfrm>
          <a:prstGeom prst="rect">
            <a:avLst/>
          </a:prstGeom>
          <a:solidFill>
            <a:srgbClr val="E04F6A"/>
          </a:solidFill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C2533"/>
                </a:solidFill>
                <a:latin typeface="Calibri"/>
              </a:rPr>
              <a:t>• Plans adapt to sleep and glucose data every morning</a:t>
            </a:r>
          </a:p>
          <a:p>
            <a:pPr algn="l"/>
            <a:r>
              <a:rPr sz="1800" b="0">
                <a:solidFill>
                  <a:srgbClr val="1C2533"/>
                </a:solidFill>
                <a:latin typeface="Calibri"/>
              </a:rPr>
              <a:t>• Coach drafts, human coach approves</a:t>
            </a:r>
          </a:p>
          <a:p>
            <a:pPr algn="l"/>
            <a:r>
              <a:rPr sz="1800" b="0">
                <a:solidFill>
                  <a:srgbClr val="1C2533"/>
                </a:solidFill>
                <a:latin typeface="Calibri"/>
              </a:rPr>
              <a:t>• Answers in Spanish, Portuguese and English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972800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4244B"/>
                </a:solidFill>
              </a:rPr>
              <a:t>Risks we are watching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66160" cy="3108960"/>
          </a:xfrm>
          <a:prstGeom prst="roundRect">
            <a:avLst/>
          </a:prstGeom>
          <a:gradFill rotWithShape="1">
            <a:gsLst>
              <a:gs pos="0">
                <a:srgbClr val="14244B"/>
              </a:gs>
              <a:gs pos="100000">
                <a:srgbClr val="3478F6"/>
              </a:gs>
            </a:gsLst>
            <a:lin scaled="0" ang="16200000"/>
          </a:gra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Regulation</a:t>
            </a:r>
          </a:p>
          <a:p>
            <a:pPr algn="l"/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EU AI Act: coach advice may count as high-risk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554480"/>
            <a:ext cx="3566160" cy="3108960"/>
          </a:xfrm>
          <a:prstGeom prst="roundRect">
            <a:avLst/>
          </a:prstGeom>
          <a:gradFill rotWithShape="1">
            <a:gsLst>
              <a:gs pos="0">
                <a:srgbClr val="8A1C3B"/>
              </a:gs>
              <a:gs pos="100000">
                <a:srgbClr val="E04F6A"/>
              </a:gs>
            </a:gsLst>
            <a:lin scaled="0" ang="16200000"/>
          </a:gra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l"/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Residency must ship before the Spain launch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554480"/>
            <a:ext cx="3566160" cy="3108960"/>
          </a:xfrm>
          <a:prstGeom prst="roundRect">
            <a:avLst/>
          </a:prstGeom>
          <a:gradFill rotWithShape="1">
            <a:gsLst>
              <a:gs pos="0">
                <a:srgbClr val="0B5E48"/>
              </a:gs>
              <a:gs pos="100000">
                <a:srgbClr val="10A078"/>
              </a:gs>
            </a:gsLst>
            <a:lin scaled="0" ang="16200000"/>
          </a:gra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Supply</a:t>
            </a:r>
          </a:p>
          <a:p>
            <a:pPr algn="l"/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Glucose sensors capped at 2,000 units in H1</a:t>
            </a:r>
          </a:p>
        </p:txBody>
      </p:sp>
      <p:sp>
        <p:nvSpPr>
          <p:cNvPr id="6" name="Rectangle 5"/>
          <p:cNvSpPr/>
          <p:nvPr/>
        </p:nvSpPr>
        <p:spPr>
          <a:xfrm rot="240000">
            <a:off x="8778240" y="4846320"/>
            <a:ext cx="2743200" cy="1463040"/>
          </a:xfrm>
          <a:prstGeom prst="rect">
            <a:avLst/>
          </a:prstGeom>
          <a:solidFill>
            <a:srgbClr val="FFE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2533"/>
                </a:solidFill>
                <a:latin typeface="Calibri"/>
              </a:rPr>
              <a:t>Owner for all three: Marta Silva, COO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